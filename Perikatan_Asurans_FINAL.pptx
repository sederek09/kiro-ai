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1188720"/>
            <a:ext cx="11277295" cy="731520"/>
          </a:xfrm>
          <a:prstGeom prst="rect">
            <a:avLst/>
          </a:prstGeom>
          <a:noFill/>
        </p:spPr>
        <p:txBody>
          <a:bodyPr wrap="square">
            <a:spAutoFit/>
          </a:bodyPr>
          <a:lstStyle/>
          <a:p>
            <a:pPr algn="ctr">
              <a:defRPr sz="4000" b="1">
                <a:solidFill>
                  <a:srgbClr val="FFFFFF"/>
                </a:solidFill>
              </a:defRPr>
            </a:pPr>
            <a:r>
              <a:t>ELEMEN KUNCI PERIKATAN ASURANS</a:t>
            </a:r>
          </a:p>
        </p:txBody>
      </p:sp>
      <p:sp>
        <p:nvSpPr>
          <p:cNvPr id="3" name="TextBox 2"/>
          <p:cNvSpPr txBox="1"/>
          <p:nvPr/>
        </p:nvSpPr>
        <p:spPr>
          <a:xfrm>
            <a:off x="457200" y="2011680"/>
            <a:ext cx="11277295" cy="457200"/>
          </a:xfrm>
          <a:prstGeom prst="rect">
            <a:avLst/>
          </a:prstGeom>
          <a:noFill/>
        </p:spPr>
        <p:txBody>
          <a:bodyPr wrap="square">
            <a:spAutoFit/>
          </a:bodyPr>
          <a:lstStyle/>
          <a:p>
            <a:pPr algn="ctr">
              <a:defRPr sz="2200" b="0">
                <a:solidFill>
                  <a:srgbClr val="FFFFFF"/>
                </a:solidFill>
              </a:defRPr>
            </a:pPr>
            <a:r>
              <a:t>dan Ketentuan Standar yang Berlaku yang Relevan dalam Suatu Perikatan</a:t>
            </a:r>
          </a:p>
        </p:txBody>
      </p:sp>
      <p:sp>
        <p:nvSpPr>
          <p:cNvPr id="4" name="Rectangle 3"/>
          <p:cNvSpPr/>
          <p:nvPr/>
        </p:nvSpPr>
        <p:spPr>
          <a:xfrm>
            <a:off x="3657600" y="2743200"/>
            <a:ext cx="4876495" cy="27432"/>
          </a:xfrm>
          <a:prstGeom prst="rect">
            <a:avLst/>
          </a:prstGeom>
          <a:solidFill>
            <a:srgbClr val="33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926080"/>
            <a:ext cx="11277295" cy="365760"/>
          </a:xfrm>
          <a:prstGeom prst="rect">
            <a:avLst/>
          </a:prstGeom>
          <a:noFill/>
        </p:spPr>
        <p:txBody>
          <a:bodyPr wrap="square">
            <a:spAutoFit/>
          </a:bodyPr>
          <a:lstStyle/>
          <a:p>
            <a:pPr algn="ctr">
              <a:defRPr sz="1400" b="0">
                <a:solidFill>
                  <a:srgbClr val="3399CC"/>
                </a:solidFill>
              </a:defRPr>
            </a:pPr>
            <a:r>
              <a:t>Berdasarkan: Kode Etik Profesi Akuntan Publik | Kerangka Perikatan Asurans | SMM (ISQM 1)</a:t>
            </a:r>
          </a:p>
        </p:txBody>
      </p:sp>
      <p:sp>
        <p:nvSpPr>
          <p:cNvPr id="6" name="Rounded Rectangle 5"/>
          <p:cNvSpPr/>
          <p:nvPr/>
        </p:nvSpPr>
        <p:spPr>
          <a:xfrm>
            <a:off x="3017520" y="3840480"/>
            <a:ext cx="6156655"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3977639"/>
            <a:ext cx="6156655" cy="365760"/>
          </a:xfrm>
          <a:prstGeom prst="rect">
            <a:avLst/>
          </a:prstGeom>
          <a:noFill/>
        </p:spPr>
        <p:txBody>
          <a:bodyPr wrap="square">
            <a:spAutoFit/>
          </a:bodyPr>
          <a:lstStyle/>
          <a:p>
            <a:pPr algn="ctr">
              <a:defRPr sz="2000" b="1">
                <a:solidFill>
                  <a:srgbClr val="003366"/>
                </a:solidFill>
              </a:defRPr>
            </a:pPr>
            <a:r>
              <a:t>KELOMPOK 1</a:t>
            </a:r>
          </a:p>
        </p:txBody>
      </p:sp>
      <p:sp>
        <p:nvSpPr>
          <p:cNvPr id="8" name="TextBox 7"/>
          <p:cNvSpPr txBox="1"/>
          <p:nvPr/>
        </p:nvSpPr>
        <p:spPr>
          <a:xfrm>
            <a:off x="3291840" y="4480560"/>
            <a:ext cx="5608015" cy="1645920"/>
          </a:xfrm>
          <a:prstGeom prst="rect">
            <a:avLst/>
          </a:prstGeom>
          <a:noFill/>
        </p:spPr>
        <p:txBody>
          <a:bodyPr wrap="square">
            <a:spAutoFit/>
          </a:bodyPr>
          <a:lstStyle/>
          <a:p>
            <a:pPr>
              <a:spcAft>
                <a:spcPts val="800"/>
              </a:spcAft>
              <a:defRPr sz="1400">
                <a:solidFill>
                  <a:srgbClr val="003366"/>
                </a:solidFill>
              </a:defRPr>
            </a:pPr>
            <a:r>
              <a:t>1. Ana Mayasari                       12030125220033</a:t>
            </a:r>
          </a:p>
          <a:p>
            <a:pPr>
              <a:spcAft>
                <a:spcPts val="800"/>
              </a:spcAft>
              <a:defRPr sz="1400">
                <a:solidFill>
                  <a:srgbClr val="003366"/>
                </a:solidFill>
              </a:defRPr>
            </a:pPr>
            <a:r>
              <a:t>2. Daud Broto Prihandoko       12030125220045</a:t>
            </a:r>
          </a:p>
          <a:p>
            <a:pPr>
              <a:spcAft>
                <a:spcPts val="800"/>
              </a:spcAft>
              <a:defRPr sz="1400">
                <a:solidFill>
                  <a:srgbClr val="003366"/>
                </a:solidFill>
              </a:defRPr>
            </a:pPr>
            <a:r>
              <a:t>3. Ismi Roudotul Janah             12030125220038</a:t>
            </a:r>
          </a:p>
          <a:p>
            <a:pPr>
              <a:spcAft>
                <a:spcPts val="800"/>
              </a:spcAft>
              <a:defRPr sz="1400">
                <a:solidFill>
                  <a:srgbClr val="003366"/>
                </a:solidFill>
              </a:defRPr>
            </a:pPr>
            <a:r>
              <a:t>4. Yudhistira Mahardika G.K.   12030125220037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DAFTAR ISI</a:t>
            </a:r>
          </a:p>
        </p:txBody>
      </p:sp>
      <p:sp>
        <p:nvSpPr>
          <p:cNvPr id="4" name="Oval 3"/>
          <p:cNvSpPr/>
          <p:nvPr/>
        </p:nvSpPr>
        <p:spPr>
          <a:xfrm>
            <a:off x="914400" y="12801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53312"/>
            <a:ext cx="411480" cy="274320"/>
          </a:xfrm>
          <a:prstGeom prst="rect">
            <a:avLst/>
          </a:prstGeom>
          <a:noFill/>
        </p:spPr>
        <p:txBody>
          <a:bodyPr wrap="square">
            <a:spAutoFit/>
          </a:bodyPr>
          <a:lstStyle/>
          <a:p>
            <a:pPr algn="ctr">
              <a:defRPr sz="1400" b="1">
                <a:solidFill>
                  <a:srgbClr val="FFFFFF"/>
                </a:solidFill>
              </a:defRPr>
            </a:pPr>
            <a:r>
              <a:t>01</a:t>
            </a:r>
          </a:p>
        </p:txBody>
      </p:sp>
      <p:sp>
        <p:nvSpPr>
          <p:cNvPr id="6" name="TextBox 5"/>
          <p:cNvSpPr txBox="1"/>
          <p:nvPr/>
        </p:nvSpPr>
        <p:spPr>
          <a:xfrm>
            <a:off x="1554480" y="1325880"/>
            <a:ext cx="9144000" cy="320040"/>
          </a:xfrm>
          <a:prstGeom prst="rect">
            <a:avLst/>
          </a:prstGeom>
          <a:noFill/>
        </p:spPr>
        <p:txBody>
          <a:bodyPr wrap="square">
            <a:spAutoFit/>
          </a:bodyPr>
          <a:lstStyle/>
          <a:p>
            <a:pPr algn="l">
              <a:defRPr sz="1800" b="1">
                <a:solidFill>
                  <a:srgbClr val="003366"/>
                </a:solidFill>
              </a:defRPr>
            </a:pPr>
            <a:r>
              <a:t>Pendahuluan</a:t>
            </a:r>
          </a:p>
        </p:txBody>
      </p:sp>
      <p:sp>
        <p:nvSpPr>
          <p:cNvPr id="7" name="Oval 6"/>
          <p:cNvSpPr/>
          <p:nvPr/>
        </p:nvSpPr>
        <p:spPr>
          <a:xfrm>
            <a:off x="914400" y="19659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39112"/>
            <a:ext cx="411480" cy="274320"/>
          </a:xfrm>
          <a:prstGeom prst="rect">
            <a:avLst/>
          </a:prstGeom>
          <a:noFill/>
        </p:spPr>
        <p:txBody>
          <a:bodyPr wrap="square">
            <a:spAutoFit/>
          </a:bodyPr>
          <a:lstStyle/>
          <a:p>
            <a:pPr algn="ctr">
              <a:defRPr sz="1400" b="1">
                <a:solidFill>
                  <a:srgbClr val="FFFFFF"/>
                </a:solidFill>
              </a:defRPr>
            </a:pPr>
            <a:r>
              <a:t>02</a:t>
            </a:r>
          </a:p>
        </p:txBody>
      </p:sp>
      <p:sp>
        <p:nvSpPr>
          <p:cNvPr id="9" name="TextBox 8"/>
          <p:cNvSpPr txBox="1"/>
          <p:nvPr/>
        </p:nvSpPr>
        <p:spPr>
          <a:xfrm>
            <a:off x="1554480" y="2011679"/>
            <a:ext cx="9144000" cy="320040"/>
          </a:xfrm>
          <a:prstGeom prst="rect">
            <a:avLst/>
          </a:prstGeom>
          <a:noFill/>
        </p:spPr>
        <p:txBody>
          <a:bodyPr wrap="square">
            <a:spAutoFit/>
          </a:bodyPr>
          <a:lstStyle/>
          <a:p>
            <a:pPr algn="l">
              <a:defRPr sz="1800" b="1">
                <a:solidFill>
                  <a:srgbClr val="003366"/>
                </a:solidFill>
              </a:defRPr>
            </a:pPr>
            <a:r>
              <a:t>Kode Etik Profesi Akuntan Publik</a:t>
            </a:r>
          </a:p>
        </p:txBody>
      </p:sp>
      <p:sp>
        <p:nvSpPr>
          <p:cNvPr id="10" name="Oval 9"/>
          <p:cNvSpPr/>
          <p:nvPr/>
        </p:nvSpPr>
        <p:spPr>
          <a:xfrm>
            <a:off x="914400" y="26517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24912"/>
            <a:ext cx="411480" cy="274320"/>
          </a:xfrm>
          <a:prstGeom prst="rect">
            <a:avLst/>
          </a:prstGeom>
          <a:noFill/>
        </p:spPr>
        <p:txBody>
          <a:bodyPr wrap="square">
            <a:spAutoFit/>
          </a:bodyPr>
          <a:lstStyle/>
          <a:p>
            <a:pPr algn="ctr">
              <a:defRPr sz="1400" b="1">
                <a:solidFill>
                  <a:srgbClr val="FFFFFF"/>
                </a:solidFill>
              </a:defRPr>
            </a:pPr>
            <a:r>
              <a:t>03</a:t>
            </a:r>
          </a:p>
        </p:txBody>
      </p:sp>
      <p:sp>
        <p:nvSpPr>
          <p:cNvPr id="12" name="TextBox 11"/>
          <p:cNvSpPr txBox="1"/>
          <p:nvPr/>
        </p:nvSpPr>
        <p:spPr>
          <a:xfrm>
            <a:off x="1554480" y="2697479"/>
            <a:ext cx="9144000" cy="320040"/>
          </a:xfrm>
          <a:prstGeom prst="rect">
            <a:avLst/>
          </a:prstGeom>
          <a:noFill/>
        </p:spPr>
        <p:txBody>
          <a:bodyPr wrap="square">
            <a:spAutoFit/>
          </a:bodyPr>
          <a:lstStyle/>
          <a:p>
            <a:pPr algn="l">
              <a:defRPr sz="1800" b="1">
                <a:solidFill>
                  <a:srgbClr val="003366"/>
                </a:solidFill>
              </a:defRPr>
            </a:pPr>
            <a:r>
              <a:t>Kerangka Perikatan Asurans</a:t>
            </a:r>
          </a:p>
        </p:txBody>
      </p:sp>
      <p:sp>
        <p:nvSpPr>
          <p:cNvPr id="13" name="Oval 12"/>
          <p:cNvSpPr/>
          <p:nvPr/>
        </p:nvSpPr>
        <p:spPr>
          <a:xfrm>
            <a:off x="914400" y="33375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410712"/>
            <a:ext cx="411480" cy="274320"/>
          </a:xfrm>
          <a:prstGeom prst="rect">
            <a:avLst/>
          </a:prstGeom>
          <a:noFill/>
        </p:spPr>
        <p:txBody>
          <a:bodyPr wrap="square">
            <a:spAutoFit/>
          </a:bodyPr>
          <a:lstStyle/>
          <a:p>
            <a:pPr algn="ctr">
              <a:defRPr sz="1400" b="1">
                <a:solidFill>
                  <a:srgbClr val="FFFFFF"/>
                </a:solidFill>
              </a:defRPr>
            </a:pPr>
            <a:r>
              <a:t>04</a:t>
            </a:r>
          </a:p>
        </p:txBody>
      </p:sp>
      <p:sp>
        <p:nvSpPr>
          <p:cNvPr id="15" name="TextBox 14"/>
          <p:cNvSpPr txBox="1"/>
          <p:nvPr/>
        </p:nvSpPr>
        <p:spPr>
          <a:xfrm>
            <a:off x="1554480" y="3383279"/>
            <a:ext cx="9144000" cy="320040"/>
          </a:xfrm>
          <a:prstGeom prst="rect">
            <a:avLst/>
          </a:prstGeom>
          <a:noFill/>
        </p:spPr>
        <p:txBody>
          <a:bodyPr wrap="square">
            <a:spAutoFit/>
          </a:bodyPr>
          <a:lstStyle/>
          <a:p>
            <a:pPr algn="l">
              <a:defRPr sz="1800" b="1">
                <a:solidFill>
                  <a:srgbClr val="003366"/>
                </a:solidFill>
              </a:defRPr>
            </a:pPr>
            <a:r>
              <a:t>Sistem Manajemen Mutu (SMM 1)</a:t>
            </a:r>
          </a:p>
        </p:txBody>
      </p:sp>
      <p:sp>
        <p:nvSpPr>
          <p:cNvPr id="16" name="Oval 15"/>
          <p:cNvSpPr/>
          <p:nvPr/>
        </p:nvSpPr>
        <p:spPr>
          <a:xfrm>
            <a:off x="914400" y="40233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96512"/>
            <a:ext cx="411480" cy="274320"/>
          </a:xfrm>
          <a:prstGeom prst="rect">
            <a:avLst/>
          </a:prstGeom>
          <a:noFill/>
        </p:spPr>
        <p:txBody>
          <a:bodyPr wrap="square">
            <a:spAutoFit/>
          </a:bodyPr>
          <a:lstStyle/>
          <a:p>
            <a:pPr algn="ctr">
              <a:defRPr sz="1400" b="1">
                <a:solidFill>
                  <a:srgbClr val="FFFFFF"/>
                </a:solidFill>
              </a:defRPr>
            </a:pPr>
            <a:r>
              <a:t>05</a:t>
            </a:r>
          </a:p>
        </p:txBody>
      </p:sp>
      <p:sp>
        <p:nvSpPr>
          <p:cNvPr id="18" name="TextBox 17"/>
          <p:cNvSpPr txBox="1"/>
          <p:nvPr/>
        </p:nvSpPr>
        <p:spPr>
          <a:xfrm>
            <a:off x="1554480" y="4069080"/>
            <a:ext cx="9144000" cy="320040"/>
          </a:xfrm>
          <a:prstGeom prst="rect">
            <a:avLst/>
          </a:prstGeom>
          <a:noFill/>
        </p:spPr>
        <p:txBody>
          <a:bodyPr wrap="square">
            <a:spAutoFit/>
          </a:bodyPr>
          <a:lstStyle/>
          <a:p>
            <a:pPr algn="l">
              <a:defRPr sz="1800" b="1">
                <a:solidFill>
                  <a:srgbClr val="003366"/>
                </a:solidFill>
              </a:defRPr>
            </a:pPr>
            <a:r>
              <a:t>Integrasi Standar dalam Perikatan</a:t>
            </a:r>
          </a:p>
        </p:txBody>
      </p:sp>
      <p:sp>
        <p:nvSpPr>
          <p:cNvPr id="19" name="Oval 18"/>
          <p:cNvSpPr/>
          <p:nvPr/>
        </p:nvSpPr>
        <p:spPr>
          <a:xfrm>
            <a:off x="914400" y="47091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782312"/>
            <a:ext cx="411480" cy="274320"/>
          </a:xfrm>
          <a:prstGeom prst="rect">
            <a:avLst/>
          </a:prstGeom>
          <a:noFill/>
        </p:spPr>
        <p:txBody>
          <a:bodyPr wrap="square">
            <a:spAutoFit/>
          </a:bodyPr>
          <a:lstStyle/>
          <a:p>
            <a:pPr algn="ctr">
              <a:defRPr sz="1400" b="1">
                <a:solidFill>
                  <a:srgbClr val="FFFFFF"/>
                </a:solidFill>
              </a:defRPr>
            </a:pPr>
            <a:r>
              <a:t>06</a:t>
            </a:r>
          </a:p>
        </p:txBody>
      </p:sp>
      <p:sp>
        <p:nvSpPr>
          <p:cNvPr id="21" name="TextBox 20"/>
          <p:cNvSpPr txBox="1"/>
          <p:nvPr/>
        </p:nvSpPr>
        <p:spPr>
          <a:xfrm>
            <a:off x="1554480" y="4754880"/>
            <a:ext cx="9144000" cy="320040"/>
          </a:xfrm>
          <a:prstGeom prst="rect">
            <a:avLst/>
          </a:prstGeom>
          <a:noFill/>
        </p:spPr>
        <p:txBody>
          <a:bodyPr wrap="square">
            <a:spAutoFit/>
          </a:bodyPr>
          <a:lstStyle/>
          <a:p>
            <a:pPr algn="l">
              <a:defRPr sz="1800" b="1">
                <a:solidFill>
                  <a:srgbClr val="003366"/>
                </a:solidFill>
              </a:defRPr>
            </a:pPr>
            <a:r>
              <a:t>Studi Kasus</a:t>
            </a:r>
          </a:p>
        </p:txBody>
      </p:sp>
      <p:sp>
        <p:nvSpPr>
          <p:cNvPr id="22" name="Oval 21"/>
          <p:cNvSpPr/>
          <p:nvPr/>
        </p:nvSpPr>
        <p:spPr>
          <a:xfrm>
            <a:off x="914400" y="5394960"/>
            <a:ext cx="411480" cy="41148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68112"/>
            <a:ext cx="411480" cy="274320"/>
          </a:xfrm>
          <a:prstGeom prst="rect">
            <a:avLst/>
          </a:prstGeom>
          <a:noFill/>
        </p:spPr>
        <p:txBody>
          <a:bodyPr wrap="square">
            <a:spAutoFit/>
          </a:bodyPr>
          <a:lstStyle/>
          <a:p>
            <a:pPr algn="ctr">
              <a:defRPr sz="1400" b="1">
                <a:solidFill>
                  <a:srgbClr val="FFFFFF"/>
                </a:solidFill>
              </a:defRPr>
            </a:pPr>
            <a:r>
              <a:t>07</a:t>
            </a:r>
          </a:p>
        </p:txBody>
      </p:sp>
      <p:sp>
        <p:nvSpPr>
          <p:cNvPr id="24" name="TextBox 23"/>
          <p:cNvSpPr txBox="1"/>
          <p:nvPr/>
        </p:nvSpPr>
        <p:spPr>
          <a:xfrm>
            <a:off x="1554480" y="5440680"/>
            <a:ext cx="9144000" cy="320040"/>
          </a:xfrm>
          <a:prstGeom prst="rect">
            <a:avLst/>
          </a:prstGeom>
          <a:noFill/>
        </p:spPr>
        <p:txBody>
          <a:bodyPr wrap="square">
            <a:spAutoFit/>
          </a:bodyPr>
          <a:lstStyle/>
          <a:p>
            <a:pPr algn="l">
              <a:defRPr sz="1800" b="1">
                <a:solidFill>
                  <a:srgbClr val="003366"/>
                </a:solidFill>
              </a:defRPr>
            </a:pPr>
            <a:r>
              <a:t>Kesimpulan &amp; Penutup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01  PENDAHULUAN</a:t>
            </a:r>
          </a:p>
        </p:txBody>
      </p:sp>
      <p:sp>
        <p:nvSpPr>
          <p:cNvPr id="4" name="TextBox 3"/>
          <p:cNvSpPr txBox="1"/>
          <p:nvPr/>
        </p:nvSpPr>
        <p:spPr>
          <a:xfrm>
            <a:off x="457200" y="1188720"/>
            <a:ext cx="5486400" cy="365760"/>
          </a:xfrm>
          <a:prstGeom prst="rect">
            <a:avLst/>
          </a:prstGeom>
          <a:noFill/>
        </p:spPr>
        <p:txBody>
          <a:bodyPr wrap="square">
            <a:spAutoFit/>
          </a:bodyPr>
          <a:lstStyle/>
          <a:p>
            <a:pPr algn="l">
              <a:defRPr sz="2000" b="1">
                <a:solidFill>
                  <a:srgbClr val="003366"/>
                </a:solidFill>
              </a:defRPr>
            </a:pPr>
            <a:r>
              <a:t>Latar Belakang</a:t>
            </a:r>
          </a:p>
        </p:txBody>
      </p:sp>
      <p:sp>
        <p:nvSpPr>
          <p:cNvPr id="5" name="TextBox 4"/>
          <p:cNvSpPr txBox="1"/>
          <p:nvPr/>
        </p:nvSpPr>
        <p:spPr>
          <a:xfrm>
            <a:off x="457200" y="1645920"/>
            <a:ext cx="5303520" cy="2743200"/>
          </a:xfrm>
          <a:prstGeom prst="rect">
            <a:avLst/>
          </a:prstGeom>
          <a:noFill/>
        </p:spPr>
        <p:txBody>
          <a:bodyPr wrap="square">
            <a:spAutoFit/>
          </a:bodyPr>
          <a:lstStyle/>
          <a:p>
            <a:pPr algn="l">
              <a:defRPr sz="1300" b="0">
                <a:solidFill>
                  <a:srgbClr val="404040"/>
                </a:solidFill>
              </a:defRPr>
            </a:pPr>
            <a:r>
              <a:t>Profesi akuntan publik memiliki tanggung jawab besar dalam memberikan keyakinan kepada pengguna laporan keuangan. Untuk menjaga kepercayaan publik, diperlukan:</a:t>
            </a:r>
            <a:br/>
            <a:br/>
            <a:r>
              <a:t>1. Kode Etik - pedoman perilaku profesional</a:t>
            </a:r>
            <a:br/>
            <a:r>
              <a:t>2. Kerangka Perikatan Asurans - mengatur pelaksanaan perikatan</a:t>
            </a:r>
            <a:br/>
            <a:r>
              <a:t>3. Sistem Manajemen Mutu - memastikan kualitas jasa</a:t>
            </a:r>
            <a:br/>
            <a:br/>
            <a:r>
              <a:t>Ketiga pilar ini saling terkait dan membentuk fondasi praktik akuntan publik yang berkualitas.</a:t>
            </a:r>
          </a:p>
        </p:txBody>
      </p:sp>
      <p:sp>
        <p:nvSpPr>
          <p:cNvPr id="6" name="TextBox 5"/>
          <p:cNvSpPr txBox="1"/>
          <p:nvPr/>
        </p:nvSpPr>
        <p:spPr>
          <a:xfrm>
            <a:off x="6217920" y="1188720"/>
            <a:ext cx="5486400" cy="365760"/>
          </a:xfrm>
          <a:prstGeom prst="rect">
            <a:avLst/>
          </a:prstGeom>
          <a:noFill/>
        </p:spPr>
        <p:txBody>
          <a:bodyPr wrap="square">
            <a:spAutoFit/>
          </a:bodyPr>
          <a:lstStyle/>
          <a:p>
            <a:pPr algn="l">
              <a:defRPr sz="2000" b="1">
                <a:solidFill>
                  <a:srgbClr val="003366"/>
                </a:solidFill>
              </a:defRPr>
            </a:pPr>
            <a:r>
              <a:t>Tujuan Pembelajaran</a:t>
            </a:r>
          </a:p>
        </p:txBody>
      </p:sp>
      <p:sp>
        <p:nvSpPr>
          <p:cNvPr id="7" name="Rounded Rectangle 6"/>
          <p:cNvSpPr/>
          <p:nvPr/>
        </p:nvSpPr>
        <p:spPr>
          <a:xfrm>
            <a:off x="6217920" y="1691640"/>
            <a:ext cx="5486400" cy="502920"/>
          </a:xfrm>
          <a:prstGeom prst="roundRect">
            <a:avLst/>
          </a:prstGeom>
          <a:solidFill>
            <a:srgbClr val="FFFFFF"/>
          </a:solidFill>
          <a:ln>
            <a:solidFill>
              <a:srgbClr val="33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5212080" cy="365760"/>
          </a:xfrm>
          <a:prstGeom prst="rect">
            <a:avLst/>
          </a:prstGeom>
          <a:noFill/>
        </p:spPr>
        <p:txBody>
          <a:bodyPr wrap="square">
            <a:spAutoFit/>
          </a:bodyPr>
          <a:lstStyle/>
          <a:p>
            <a:pPr algn="l">
              <a:defRPr sz="1200" b="0">
                <a:solidFill>
                  <a:srgbClr val="404040"/>
                </a:solidFill>
              </a:defRPr>
            </a:pPr>
            <a:r>
              <a:t>1. Memahami prinsip dasar Kode Etik Profesi Akuntan Publik</a:t>
            </a:r>
          </a:p>
        </p:txBody>
      </p:sp>
      <p:sp>
        <p:nvSpPr>
          <p:cNvPr id="9" name="Rounded Rectangle 8"/>
          <p:cNvSpPr/>
          <p:nvPr/>
        </p:nvSpPr>
        <p:spPr>
          <a:xfrm>
            <a:off x="6217920" y="2286000"/>
            <a:ext cx="5486400" cy="502920"/>
          </a:xfrm>
          <a:prstGeom prst="roundRect">
            <a:avLst/>
          </a:prstGeom>
          <a:solidFill>
            <a:srgbClr val="FFFFFF"/>
          </a:solidFill>
          <a:ln>
            <a:solidFill>
              <a:srgbClr val="33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2377440"/>
            <a:ext cx="5212080" cy="365760"/>
          </a:xfrm>
          <a:prstGeom prst="rect">
            <a:avLst/>
          </a:prstGeom>
          <a:noFill/>
        </p:spPr>
        <p:txBody>
          <a:bodyPr wrap="square">
            <a:spAutoFit/>
          </a:bodyPr>
          <a:lstStyle/>
          <a:p>
            <a:pPr algn="l">
              <a:defRPr sz="1200" b="0">
                <a:solidFill>
                  <a:srgbClr val="404040"/>
                </a:solidFill>
              </a:defRPr>
            </a:pPr>
            <a:r>
              <a:t>2. Menjelaskan 5 elemen kunci perikatan asurans</a:t>
            </a:r>
          </a:p>
        </p:txBody>
      </p:sp>
      <p:sp>
        <p:nvSpPr>
          <p:cNvPr id="11" name="Rounded Rectangle 10"/>
          <p:cNvSpPr/>
          <p:nvPr/>
        </p:nvSpPr>
        <p:spPr>
          <a:xfrm>
            <a:off x="6217920" y="2880360"/>
            <a:ext cx="5486400" cy="502920"/>
          </a:xfrm>
          <a:prstGeom prst="roundRect">
            <a:avLst/>
          </a:prstGeom>
          <a:solidFill>
            <a:srgbClr val="FFFFFF"/>
          </a:solidFill>
          <a:ln>
            <a:solidFill>
              <a:srgbClr val="33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971800"/>
            <a:ext cx="5212080" cy="365760"/>
          </a:xfrm>
          <a:prstGeom prst="rect">
            <a:avLst/>
          </a:prstGeom>
          <a:noFill/>
        </p:spPr>
        <p:txBody>
          <a:bodyPr wrap="square">
            <a:spAutoFit/>
          </a:bodyPr>
          <a:lstStyle/>
          <a:p>
            <a:pPr algn="l">
              <a:defRPr sz="1200" b="0">
                <a:solidFill>
                  <a:srgbClr val="404040"/>
                </a:solidFill>
              </a:defRPr>
            </a:pPr>
            <a:r>
              <a:t>3. Memahami jenis-jenis perikatan asurans</a:t>
            </a:r>
          </a:p>
        </p:txBody>
      </p:sp>
      <p:sp>
        <p:nvSpPr>
          <p:cNvPr id="13" name="Rounded Rectangle 12"/>
          <p:cNvSpPr/>
          <p:nvPr/>
        </p:nvSpPr>
        <p:spPr>
          <a:xfrm>
            <a:off x="6217920" y="3474720"/>
            <a:ext cx="5486400" cy="502920"/>
          </a:xfrm>
          <a:prstGeom prst="roundRect">
            <a:avLst/>
          </a:prstGeom>
          <a:solidFill>
            <a:srgbClr val="FFFFFF"/>
          </a:solidFill>
          <a:ln>
            <a:solidFill>
              <a:srgbClr val="33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566160"/>
            <a:ext cx="5212080" cy="365760"/>
          </a:xfrm>
          <a:prstGeom prst="rect">
            <a:avLst/>
          </a:prstGeom>
          <a:noFill/>
        </p:spPr>
        <p:txBody>
          <a:bodyPr wrap="square">
            <a:spAutoFit/>
          </a:bodyPr>
          <a:lstStyle/>
          <a:p>
            <a:pPr algn="l">
              <a:defRPr sz="1200" b="0">
                <a:solidFill>
                  <a:srgbClr val="404040"/>
                </a:solidFill>
              </a:defRPr>
            </a:pPr>
            <a:r>
              <a:t>4. Mengenal SMM 1 dan komponen-komponennya</a:t>
            </a:r>
          </a:p>
        </p:txBody>
      </p:sp>
      <p:sp>
        <p:nvSpPr>
          <p:cNvPr id="15" name="Rounded Rectangle 14"/>
          <p:cNvSpPr/>
          <p:nvPr/>
        </p:nvSpPr>
        <p:spPr>
          <a:xfrm>
            <a:off x="6217920" y="4069080"/>
            <a:ext cx="5486400" cy="502920"/>
          </a:xfrm>
          <a:prstGeom prst="roundRect">
            <a:avLst/>
          </a:prstGeom>
          <a:solidFill>
            <a:srgbClr val="FFFFFF"/>
          </a:solidFill>
          <a:ln>
            <a:solidFill>
              <a:srgbClr val="33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160520"/>
            <a:ext cx="5212080" cy="365760"/>
          </a:xfrm>
          <a:prstGeom prst="rect">
            <a:avLst/>
          </a:prstGeom>
          <a:noFill/>
        </p:spPr>
        <p:txBody>
          <a:bodyPr wrap="square">
            <a:spAutoFit/>
          </a:bodyPr>
          <a:lstStyle/>
          <a:p>
            <a:pPr algn="l">
              <a:defRPr sz="1200" b="0">
                <a:solidFill>
                  <a:srgbClr val="404040"/>
                </a:solidFill>
              </a:defRPr>
            </a:pPr>
            <a:r>
              <a:t>5. Mengintegrasikan standar dalam praktik perikatan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02  KODE ETIK PROFESI AKUNTAN PUBLIK</a:t>
            </a:r>
          </a:p>
        </p:txBody>
      </p:sp>
      <p:sp>
        <p:nvSpPr>
          <p:cNvPr id="4" name="TextBox 3"/>
          <p:cNvSpPr txBox="1"/>
          <p:nvPr/>
        </p:nvSpPr>
        <p:spPr>
          <a:xfrm>
            <a:off x="457200" y="1188720"/>
            <a:ext cx="10972800" cy="365760"/>
          </a:xfrm>
          <a:prstGeom prst="rect">
            <a:avLst/>
          </a:prstGeom>
          <a:noFill/>
        </p:spPr>
        <p:txBody>
          <a:bodyPr wrap="square">
            <a:spAutoFit/>
          </a:bodyPr>
          <a:lstStyle/>
          <a:p>
            <a:pPr algn="l">
              <a:defRPr sz="1800" b="1">
                <a:solidFill>
                  <a:srgbClr val="003366"/>
                </a:solidFill>
              </a:defRPr>
            </a:pPr>
            <a:r>
              <a:t>Apa itu Kode Etik Profesi Akuntan Publik?</a:t>
            </a:r>
          </a:p>
        </p:txBody>
      </p:sp>
      <p:sp>
        <p:nvSpPr>
          <p:cNvPr id="5" name="TextBox 4"/>
          <p:cNvSpPr txBox="1"/>
          <p:nvPr/>
        </p:nvSpPr>
        <p:spPr>
          <a:xfrm>
            <a:off x="457200" y="1600200"/>
            <a:ext cx="10972800" cy="640080"/>
          </a:xfrm>
          <a:prstGeom prst="rect">
            <a:avLst/>
          </a:prstGeom>
          <a:noFill/>
        </p:spPr>
        <p:txBody>
          <a:bodyPr wrap="square">
            <a:spAutoFit/>
          </a:bodyPr>
          <a:lstStyle/>
          <a:p>
            <a:pPr algn="l">
              <a:defRPr sz="1300" b="0">
                <a:solidFill>
                  <a:srgbClr val="404040"/>
                </a:solidFill>
              </a:defRPr>
            </a:pPr>
            <a:r>
              <a:t>Kode Etik Profesi Akuntan Publik adalah seperangkat aturan dan prinsip yang mengatur perilaku dan tanggung jawab profesional akuntan publik. Diterbitkan oleh IAPI dan mengadopsi standar internasional IESBA Code of Ethics.</a:t>
            </a:r>
          </a:p>
        </p:txBody>
      </p:sp>
      <p:sp>
        <p:nvSpPr>
          <p:cNvPr id="6" name="TextBox 5"/>
          <p:cNvSpPr txBox="1"/>
          <p:nvPr/>
        </p:nvSpPr>
        <p:spPr>
          <a:xfrm>
            <a:off x="457200" y="2377440"/>
            <a:ext cx="5486400" cy="365760"/>
          </a:xfrm>
          <a:prstGeom prst="rect">
            <a:avLst/>
          </a:prstGeom>
          <a:noFill/>
        </p:spPr>
        <p:txBody>
          <a:bodyPr wrap="square">
            <a:spAutoFit/>
          </a:bodyPr>
          <a:lstStyle/>
          <a:p>
            <a:pPr algn="l">
              <a:defRPr sz="1600" b="1">
                <a:solidFill>
                  <a:srgbClr val="003366"/>
                </a:solidFill>
              </a:defRPr>
            </a:pPr>
            <a:r>
              <a:t>Kerangka Konseptual</a:t>
            </a:r>
          </a:p>
        </p:txBody>
      </p:sp>
      <p:sp>
        <p:nvSpPr>
          <p:cNvPr id="7" name="TextBox 6"/>
          <p:cNvSpPr txBox="1"/>
          <p:nvPr/>
        </p:nvSpPr>
        <p:spPr>
          <a:xfrm>
            <a:off x="457200" y="2743200"/>
            <a:ext cx="5303520" cy="1828800"/>
          </a:xfrm>
          <a:prstGeom prst="rect">
            <a:avLst/>
          </a:prstGeom>
          <a:noFill/>
        </p:spPr>
        <p:txBody>
          <a:bodyPr wrap="square">
            <a:spAutoFit/>
          </a:bodyPr>
          <a:lstStyle/>
          <a:p>
            <a:pPr>
              <a:spcAft>
                <a:spcPts val="600"/>
              </a:spcAft>
              <a:defRPr sz="1200">
                <a:solidFill>
                  <a:srgbClr val="404040"/>
                </a:solidFill>
              </a:defRPr>
            </a:pPr>
            <a:r>
              <a:t>  Mengidentifikasi ancaman terhadap kepatuhan</a:t>
            </a:r>
          </a:p>
          <a:p>
            <a:pPr>
              <a:spcAft>
                <a:spcPts val="600"/>
              </a:spcAft>
              <a:defRPr sz="1200">
                <a:solidFill>
                  <a:srgbClr val="404040"/>
                </a:solidFill>
              </a:defRPr>
            </a:pPr>
            <a:r>
              <a:t>  Mengevaluasi signifikansi ancaman</a:t>
            </a:r>
          </a:p>
          <a:p>
            <a:pPr>
              <a:spcAft>
                <a:spcPts val="600"/>
              </a:spcAft>
              <a:defRPr sz="1200">
                <a:solidFill>
                  <a:srgbClr val="404040"/>
                </a:solidFill>
              </a:defRPr>
            </a:pPr>
            <a:r>
              <a:t>  Menerapkan pengamanan untuk mengurangi ancaman</a:t>
            </a:r>
          </a:p>
          <a:p>
            <a:pPr>
              <a:spcAft>
                <a:spcPts val="600"/>
              </a:spcAft>
              <a:defRPr sz="1200">
                <a:solidFill>
                  <a:srgbClr val="404040"/>
                </a:solidFill>
              </a:defRPr>
            </a:pPr>
            <a:r>
              <a:t>  Jika tidak dapat diatasi - tolak/mundur dari perikatan</a:t>
            </a:r>
          </a:p>
        </p:txBody>
      </p:sp>
      <p:sp>
        <p:nvSpPr>
          <p:cNvPr id="8" name="TextBox 7"/>
          <p:cNvSpPr txBox="1"/>
          <p:nvPr/>
        </p:nvSpPr>
        <p:spPr>
          <a:xfrm>
            <a:off x="6217920" y="2377440"/>
            <a:ext cx="5486400" cy="365760"/>
          </a:xfrm>
          <a:prstGeom prst="rect">
            <a:avLst/>
          </a:prstGeom>
          <a:noFill/>
        </p:spPr>
        <p:txBody>
          <a:bodyPr wrap="square">
            <a:spAutoFit/>
          </a:bodyPr>
          <a:lstStyle/>
          <a:p>
            <a:pPr algn="l">
              <a:defRPr sz="1600" b="1">
                <a:solidFill>
                  <a:srgbClr val="003366"/>
                </a:solidFill>
              </a:defRPr>
            </a:pPr>
            <a:r>
              <a:t>Tujuan Kode Etik</a:t>
            </a:r>
          </a:p>
        </p:txBody>
      </p:sp>
      <p:sp>
        <p:nvSpPr>
          <p:cNvPr id="9" name="Chevron 8"/>
          <p:cNvSpPr/>
          <p:nvPr/>
        </p:nvSpPr>
        <p:spPr>
          <a:xfrm>
            <a:off x="6217920" y="2788920"/>
            <a:ext cx="274320" cy="320040"/>
          </a:xfrm>
          <a:prstGeom prst="chevron">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788920"/>
            <a:ext cx="5029200" cy="320040"/>
          </a:xfrm>
          <a:prstGeom prst="rect">
            <a:avLst/>
          </a:prstGeom>
          <a:noFill/>
        </p:spPr>
        <p:txBody>
          <a:bodyPr wrap="square">
            <a:spAutoFit/>
          </a:bodyPr>
          <a:lstStyle/>
          <a:p>
            <a:pPr algn="l">
              <a:defRPr sz="1200" b="0">
                <a:solidFill>
                  <a:srgbClr val="404040"/>
                </a:solidFill>
              </a:defRPr>
            </a:pPr>
            <a:r>
              <a:t>Menetapkan standar perilaku profesional</a:t>
            </a:r>
          </a:p>
        </p:txBody>
      </p:sp>
      <p:sp>
        <p:nvSpPr>
          <p:cNvPr id="11" name="Chevron 10"/>
          <p:cNvSpPr/>
          <p:nvPr/>
        </p:nvSpPr>
        <p:spPr>
          <a:xfrm>
            <a:off x="6217920" y="3291839"/>
            <a:ext cx="274320" cy="320040"/>
          </a:xfrm>
          <a:prstGeom prst="chevron">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291839"/>
            <a:ext cx="5029200" cy="320040"/>
          </a:xfrm>
          <a:prstGeom prst="rect">
            <a:avLst/>
          </a:prstGeom>
          <a:noFill/>
        </p:spPr>
        <p:txBody>
          <a:bodyPr wrap="square">
            <a:spAutoFit/>
          </a:bodyPr>
          <a:lstStyle/>
          <a:p>
            <a:pPr algn="l">
              <a:defRPr sz="1200" b="0">
                <a:solidFill>
                  <a:srgbClr val="404040"/>
                </a:solidFill>
              </a:defRPr>
            </a:pPr>
            <a:r>
              <a:t>Melindungi kepentingan publik</a:t>
            </a:r>
          </a:p>
        </p:txBody>
      </p:sp>
      <p:sp>
        <p:nvSpPr>
          <p:cNvPr id="13" name="Chevron 12"/>
          <p:cNvSpPr/>
          <p:nvPr/>
        </p:nvSpPr>
        <p:spPr>
          <a:xfrm>
            <a:off x="6217920" y="3794760"/>
            <a:ext cx="274320" cy="320040"/>
          </a:xfrm>
          <a:prstGeom prst="chevron">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794760"/>
            <a:ext cx="5029200" cy="320040"/>
          </a:xfrm>
          <a:prstGeom prst="rect">
            <a:avLst/>
          </a:prstGeom>
          <a:noFill/>
        </p:spPr>
        <p:txBody>
          <a:bodyPr wrap="square">
            <a:spAutoFit/>
          </a:bodyPr>
          <a:lstStyle/>
          <a:p>
            <a:pPr algn="l">
              <a:defRPr sz="1200" b="0">
                <a:solidFill>
                  <a:srgbClr val="404040"/>
                </a:solidFill>
              </a:defRPr>
            </a:pPr>
            <a:r>
              <a:t>Menjaga reputasi dan integritas profesi</a:t>
            </a:r>
          </a:p>
        </p:txBody>
      </p:sp>
      <p:sp>
        <p:nvSpPr>
          <p:cNvPr id="15" name="Chevron 14"/>
          <p:cNvSpPr/>
          <p:nvPr/>
        </p:nvSpPr>
        <p:spPr>
          <a:xfrm>
            <a:off x="6217920" y="4297680"/>
            <a:ext cx="274320" cy="320040"/>
          </a:xfrm>
          <a:prstGeom prst="chevron">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297680"/>
            <a:ext cx="5029200" cy="320040"/>
          </a:xfrm>
          <a:prstGeom prst="rect">
            <a:avLst/>
          </a:prstGeom>
          <a:noFill/>
        </p:spPr>
        <p:txBody>
          <a:bodyPr wrap="square">
            <a:spAutoFit/>
          </a:bodyPr>
          <a:lstStyle/>
          <a:p>
            <a:pPr algn="l">
              <a:defRPr sz="1200" b="0">
                <a:solidFill>
                  <a:srgbClr val="404040"/>
                </a:solidFill>
              </a:defRPr>
            </a:pPr>
            <a:r>
              <a:t>Memberikan panduan menghadapi dilema etis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5 PRINSIP DASAR ETIKA PROFESI</a:t>
            </a:r>
          </a:p>
        </p:txBody>
      </p:sp>
      <p:sp>
        <p:nvSpPr>
          <p:cNvPr id="4" name="Oval 3"/>
          <p:cNvSpPr/>
          <p:nvPr/>
        </p:nvSpPr>
        <p:spPr>
          <a:xfrm>
            <a:off x="457200" y="123444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25880"/>
            <a:ext cx="457200" cy="274320"/>
          </a:xfrm>
          <a:prstGeom prst="rect">
            <a:avLst/>
          </a:prstGeom>
          <a:noFill/>
        </p:spPr>
        <p:txBody>
          <a:bodyPr wrap="square">
            <a:spAutoFit/>
          </a:bodyPr>
          <a:lstStyle/>
          <a:p>
            <a:pPr algn="ctr">
              <a:defRPr sz="1800" b="1">
                <a:solidFill>
                  <a:srgbClr val="FFFFFF"/>
                </a:solidFill>
              </a:defRPr>
            </a:pPr>
            <a:r>
              <a:t>1</a:t>
            </a:r>
          </a:p>
        </p:txBody>
      </p:sp>
      <p:sp>
        <p:nvSpPr>
          <p:cNvPr id="6" name="Rounded Rectangle 5"/>
          <p:cNvSpPr/>
          <p:nvPr/>
        </p:nvSpPr>
        <p:spPr>
          <a:xfrm>
            <a:off x="1005840" y="1234440"/>
            <a:ext cx="10698480" cy="8686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307592"/>
            <a:ext cx="10058400" cy="274320"/>
          </a:xfrm>
          <a:prstGeom prst="rect">
            <a:avLst/>
          </a:prstGeom>
          <a:noFill/>
        </p:spPr>
        <p:txBody>
          <a:bodyPr wrap="square">
            <a:spAutoFit/>
          </a:bodyPr>
          <a:lstStyle/>
          <a:p>
            <a:pPr algn="l">
              <a:defRPr sz="1400" b="1">
                <a:solidFill>
                  <a:srgbClr val="003366"/>
                </a:solidFill>
              </a:defRPr>
            </a:pPr>
            <a:r>
              <a:t>INTEGRITAS</a:t>
            </a:r>
          </a:p>
        </p:txBody>
      </p:sp>
      <p:sp>
        <p:nvSpPr>
          <p:cNvPr id="8" name="TextBox 7"/>
          <p:cNvSpPr txBox="1"/>
          <p:nvPr/>
        </p:nvSpPr>
        <p:spPr>
          <a:xfrm>
            <a:off x="1188720" y="1645920"/>
            <a:ext cx="10058400" cy="365760"/>
          </a:xfrm>
          <a:prstGeom prst="rect">
            <a:avLst/>
          </a:prstGeom>
          <a:noFill/>
        </p:spPr>
        <p:txBody>
          <a:bodyPr wrap="square">
            <a:spAutoFit/>
          </a:bodyPr>
          <a:lstStyle/>
          <a:p>
            <a:pPr algn="l">
              <a:defRPr sz="1100" b="0">
                <a:solidFill>
                  <a:srgbClr val="404040"/>
                </a:solidFill>
              </a:defRPr>
            </a:pPr>
            <a:r>
              <a:t>Bersikap lugas dan jujur dalam semua hubungan profesional dan bisnis</a:t>
            </a:r>
          </a:p>
        </p:txBody>
      </p:sp>
      <p:sp>
        <p:nvSpPr>
          <p:cNvPr id="9" name="Oval 8"/>
          <p:cNvSpPr/>
          <p:nvPr/>
        </p:nvSpPr>
        <p:spPr>
          <a:xfrm>
            <a:off x="457200" y="2258568"/>
            <a:ext cx="457200" cy="4572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50008"/>
            <a:ext cx="457200" cy="274320"/>
          </a:xfrm>
          <a:prstGeom prst="rect">
            <a:avLst/>
          </a:prstGeom>
          <a:noFill/>
        </p:spPr>
        <p:txBody>
          <a:bodyPr wrap="square">
            <a:spAutoFit/>
          </a:bodyPr>
          <a:lstStyle/>
          <a:p>
            <a:pPr algn="ctr">
              <a:defRPr sz="1800" b="1">
                <a:solidFill>
                  <a:srgbClr val="FFFFFF"/>
                </a:solidFill>
              </a:defRPr>
            </a:pPr>
            <a:r>
              <a:t>2</a:t>
            </a:r>
          </a:p>
        </p:txBody>
      </p:sp>
      <p:sp>
        <p:nvSpPr>
          <p:cNvPr id="11" name="Rounded Rectangle 10"/>
          <p:cNvSpPr/>
          <p:nvPr/>
        </p:nvSpPr>
        <p:spPr>
          <a:xfrm>
            <a:off x="1005840" y="2258568"/>
            <a:ext cx="10698480" cy="86868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331720"/>
            <a:ext cx="10058400" cy="274320"/>
          </a:xfrm>
          <a:prstGeom prst="rect">
            <a:avLst/>
          </a:prstGeom>
          <a:noFill/>
        </p:spPr>
        <p:txBody>
          <a:bodyPr wrap="square">
            <a:spAutoFit/>
          </a:bodyPr>
          <a:lstStyle/>
          <a:p>
            <a:pPr algn="l">
              <a:defRPr sz="1400" b="1">
                <a:solidFill>
                  <a:srgbClr val="8E44AD"/>
                </a:solidFill>
              </a:defRPr>
            </a:pPr>
            <a:r>
              <a:t>OBJEKTIVITAS</a:t>
            </a:r>
          </a:p>
        </p:txBody>
      </p:sp>
      <p:sp>
        <p:nvSpPr>
          <p:cNvPr id="13" name="TextBox 12"/>
          <p:cNvSpPr txBox="1"/>
          <p:nvPr/>
        </p:nvSpPr>
        <p:spPr>
          <a:xfrm>
            <a:off x="1188720" y="2670048"/>
            <a:ext cx="10058400" cy="365760"/>
          </a:xfrm>
          <a:prstGeom prst="rect">
            <a:avLst/>
          </a:prstGeom>
          <a:noFill/>
        </p:spPr>
        <p:txBody>
          <a:bodyPr wrap="square">
            <a:spAutoFit/>
          </a:bodyPr>
          <a:lstStyle/>
          <a:p>
            <a:pPr algn="l">
              <a:defRPr sz="1100" b="0">
                <a:solidFill>
                  <a:srgbClr val="404040"/>
                </a:solidFill>
              </a:defRPr>
            </a:pPr>
            <a:r>
              <a:t>Tidak membiarkan bias, benturan kepentingan, atau pengaruh pihak lain mengalahkan pertimbangan profesional</a:t>
            </a:r>
          </a:p>
        </p:txBody>
      </p:sp>
      <p:sp>
        <p:nvSpPr>
          <p:cNvPr id="14" name="Oval 13"/>
          <p:cNvSpPr/>
          <p:nvPr/>
        </p:nvSpPr>
        <p:spPr>
          <a:xfrm>
            <a:off x="457200" y="3282696"/>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374136"/>
            <a:ext cx="457200" cy="274320"/>
          </a:xfrm>
          <a:prstGeom prst="rect">
            <a:avLst/>
          </a:prstGeom>
          <a:noFill/>
        </p:spPr>
        <p:txBody>
          <a:bodyPr wrap="square">
            <a:spAutoFit/>
          </a:bodyPr>
          <a:lstStyle/>
          <a:p>
            <a:pPr algn="ctr">
              <a:defRPr sz="1800" b="1">
                <a:solidFill>
                  <a:srgbClr val="FFFFFF"/>
                </a:solidFill>
              </a:defRPr>
            </a:pPr>
            <a:r>
              <a:t>3</a:t>
            </a:r>
          </a:p>
        </p:txBody>
      </p:sp>
      <p:sp>
        <p:nvSpPr>
          <p:cNvPr id="16" name="Rounded Rectangle 15"/>
          <p:cNvSpPr/>
          <p:nvPr/>
        </p:nvSpPr>
        <p:spPr>
          <a:xfrm>
            <a:off x="1005840" y="3282696"/>
            <a:ext cx="10698480" cy="86868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355848"/>
            <a:ext cx="10058400" cy="274320"/>
          </a:xfrm>
          <a:prstGeom prst="rect">
            <a:avLst/>
          </a:prstGeom>
          <a:noFill/>
        </p:spPr>
        <p:txBody>
          <a:bodyPr wrap="square">
            <a:spAutoFit/>
          </a:bodyPr>
          <a:lstStyle/>
          <a:p>
            <a:pPr algn="l">
              <a:defRPr sz="1400" b="1">
                <a:solidFill>
                  <a:srgbClr val="27AE60"/>
                </a:solidFill>
              </a:defRPr>
            </a:pPr>
            <a:r>
              <a:t>KOMPETENSI &amp; KEHATI-HATIAN PROFESIONAL</a:t>
            </a:r>
          </a:p>
        </p:txBody>
      </p:sp>
      <p:sp>
        <p:nvSpPr>
          <p:cNvPr id="18" name="TextBox 17"/>
          <p:cNvSpPr txBox="1"/>
          <p:nvPr/>
        </p:nvSpPr>
        <p:spPr>
          <a:xfrm>
            <a:off x="1188720" y="3694176"/>
            <a:ext cx="10058400" cy="365760"/>
          </a:xfrm>
          <a:prstGeom prst="rect">
            <a:avLst/>
          </a:prstGeom>
          <a:noFill/>
        </p:spPr>
        <p:txBody>
          <a:bodyPr wrap="square">
            <a:spAutoFit/>
          </a:bodyPr>
          <a:lstStyle/>
          <a:p>
            <a:pPr algn="l">
              <a:defRPr sz="1100" b="0">
                <a:solidFill>
                  <a:srgbClr val="404040"/>
                </a:solidFill>
              </a:defRPr>
            </a:pPr>
            <a:r>
              <a:t>Menjaga pengetahuan dan keterampilan profesional pada tingkat yang diperlukan</a:t>
            </a:r>
          </a:p>
        </p:txBody>
      </p:sp>
      <p:sp>
        <p:nvSpPr>
          <p:cNvPr id="19" name="Oval 18"/>
          <p:cNvSpPr/>
          <p:nvPr/>
        </p:nvSpPr>
        <p:spPr>
          <a:xfrm>
            <a:off x="457200" y="4306824"/>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398264"/>
            <a:ext cx="457200" cy="274320"/>
          </a:xfrm>
          <a:prstGeom prst="rect">
            <a:avLst/>
          </a:prstGeom>
          <a:noFill/>
        </p:spPr>
        <p:txBody>
          <a:bodyPr wrap="square">
            <a:spAutoFit/>
          </a:bodyPr>
          <a:lstStyle/>
          <a:p>
            <a:pPr algn="ctr">
              <a:defRPr sz="1800" b="1">
                <a:solidFill>
                  <a:srgbClr val="FFFFFF"/>
                </a:solidFill>
              </a:defRPr>
            </a:pPr>
            <a:r>
              <a:t>4</a:t>
            </a:r>
          </a:p>
        </p:txBody>
      </p:sp>
      <p:sp>
        <p:nvSpPr>
          <p:cNvPr id="21" name="Rounded Rectangle 20"/>
          <p:cNvSpPr/>
          <p:nvPr/>
        </p:nvSpPr>
        <p:spPr>
          <a:xfrm>
            <a:off x="1005840" y="4306824"/>
            <a:ext cx="10698480" cy="86868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379976"/>
            <a:ext cx="10058400" cy="274320"/>
          </a:xfrm>
          <a:prstGeom prst="rect">
            <a:avLst/>
          </a:prstGeom>
          <a:noFill/>
        </p:spPr>
        <p:txBody>
          <a:bodyPr wrap="square">
            <a:spAutoFit/>
          </a:bodyPr>
          <a:lstStyle/>
          <a:p>
            <a:pPr algn="l">
              <a:defRPr sz="1400" b="1">
                <a:solidFill>
                  <a:srgbClr val="E67E22"/>
                </a:solidFill>
              </a:defRPr>
            </a:pPr>
            <a:r>
              <a:t>KERAHASIAAN</a:t>
            </a:r>
          </a:p>
        </p:txBody>
      </p:sp>
      <p:sp>
        <p:nvSpPr>
          <p:cNvPr id="23" name="TextBox 22"/>
          <p:cNvSpPr txBox="1"/>
          <p:nvPr/>
        </p:nvSpPr>
        <p:spPr>
          <a:xfrm>
            <a:off x="1188720" y="4718304"/>
            <a:ext cx="10058400" cy="365760"/>
          </a:xfrm>
          <a:prstGeom prst="rect">
            <a:avLst/>
          </a:prstGeom>
          <a:noFill/>
        </p:spPr>
        <p:txBody>
          <a:bodyPr wrap="square">
            <a:spAutoFit/>
          </a:bodyPr>
          <a:lstStyle/>
          <a:p>
            <a:pPr algn="l">
              <a:defRPr sz="1100" b="0">
                <a:solidFill>
                  <a:srgbClr val="404040"/>
                </a:solidFill>
              </a:defRPr>
            </a:pPr>
            <a:r>
              <a:t>Menjaga kerahasiaan informasi yang diperoleh dari hubungan profesional dan bisnis</a:t>
            </a:r>
          </a:p>
        </p:txBody>
      </p:sp>
      <p:sp>
        <p:nvSpPr>
          <p:cNvPr id="24" name="Oval 23"/>
          <p:cNvSpPr/>
          <p:nvPr/>
        </p:nvSpPr>
        <p:spPr>
          <a:xfrm>
            <a:off x="457200" y="5330952"/>
            <a:ext cx="457200" cy="45720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422392"/>
            <a:ext cx="457200" cy="274320"/>
          </a:xfrm>
          <a:prstGeom prst="rect">
            <a:avLst/>
          </a:prstGeom>
          <a:noFill/>
        </p:spPr>
        <p:txBody>
          <a:bodyPr wrap="square">
            <a:spAutoFit/>
          </a:bodyPr>
          <a:lstStyle/>
          <a:p>
            <a:pPr algn="ctr">
              <a:defRPr sz="1800" b="1">
                <a:solidFill>
                  <a:srgbClr val="FFFFFF"/>
                </a:solidFill>
              </a:defRPr>
            </a:pPr>
            <a:r>
              <a:t>5</a:t>
            </a:r>
          </a:p>
        </p:txBody>
      </p:sp>
      <p:sp>
        <p:nvSpPr>
          <p:cNvPr id="26" name="Rounded Rectangle 25"/>
          <p:cNvSpPr/>
          <p:nvPr/>
        </p:nvSpPr>
        <p:spPr>
          <a:xfrm>
            <a:off x="1005840" y="5330952"/>
            <a:ext cx="10698480" cy="86868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404104"/>
            <a:ext cx="10058400" cy="274320"/>
          </a:xfrm>
          <a:prstGeom prst="rect">
            <a:avLst/>
          </a:prstGeom>
          <a:noFill/>
        </p:spPr>
        <p:txBody>
          <a:bodyPr wrap="square">
            <a:spAutoFit/>
          </a:bodyPr>
          <a:lstStyle/>
          <a:p>
            <a:pPr algn="l">
              <a:defRPr sz="1400" b="1">
                <a:solidFill>
                  <a:srgbClr val="E74C3C"/>
                </a:solidFill>
              </a:defRPr>
            </a:pPr>
            <a:r>
              <a:t>PERILAKU PROFESIONAL</a:t>
            </a:r>
          </a:p>
        </p:txBody>
      </p:sp>
      <p:sp>
        <p:nvSpPr>
          <p:cNvPr id="28" name="TextBox 27"/>
          <p:cNvSpPr txBox="1"/>
          <p:nvPr/>
        </p:nvSpPr>
        <p:spPr>
          <a:xfrm>
            <a:off x="1188720" y="5742432"/>
            <a:ext cx="10058400" cy="365760"/>
          </a:xfrm>
          <a:prstGeom prst="rect">
            <a:avLst/>
          </a:prstGeom>
          <a:noFill/>
        </p:spPr>
        <p:txBody>
          <a:bodyPr wrap="square">
            <a:spAutoFit/>
          </a:bodyPr>
          <a:lstStyle/>
          <a:p>
            <a:pPr algn="l">
              <a:defRPr sz="1100" b="0">
                <a:solidFill>
                  <a:srgbClr val="404040"/>
                </a:solidFill>
              </a:defRPr>
            </a:pPr>
            <a:r>
              <a:t>Mematuhi peraturan perundang-undangan dan menghindari tindakan yang mendiskreditkan profesi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ANCAMAN TERHADAP KEPATUHAN PRINSIP DASAR</a:t>
            </a:r>
          </a:p>
        </p:txBody>
      </p:sp>
      <p:sp>
        <p:nvSpPr>
          <p:cNvPr id="4" name="Rounded Rectangle 3"/>
          <p:cNvSpPr/>
          <p:nvPr/>
        </p:nvSpPr>
        <p:spPr>
          <a:xfrm>
            <a:off x="457200" y="1280160"/>
            <a:ext cx="3566160" cy="228600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74519" y="1463039"/>
            <a:ext cx="731520" cy="7315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74519" y="1645919"/>
            <a:ext cx="731520" cy="365760"/>
          </a:xfrm>
          <a:prstGeom prst="rect">
            <a:avLst/>
          </a:prstGeom>
          <a:noFill/>
        </p:spPr>
        <p:txBody>
          <a:bodyPr wrap="square">
            <a:spAutoFit/>
          </a:bodyPr>
          <a:lstStyle/>
          <a:p>
            <a:pPr algn="ctr">
              <a:defRPr sz="2400" b="1">
                <a:solidFill>
                  <a:srgbClr val="FFFFFF"/>
                </a:solidFill>
              </a:defRPr>
            </a:pPr>
            <a:r>
              <a:t>1</a:t>
            </a:r>
          </a:p>
        </p:txBody>
      </p:sp>
      <p:sp>
        <p:nvSpPr>
          <p:cNvPr id="7" name="TextBox 6"/>
          <p:cNvSpPr txBox="1"/>
          <p:nvPr/>
        </p:nvSpPr>
        <p:spPr>
          <a:xfrm>
            <a:off x="640080" y="2286000"/>
            <a:ext cx="3200400" cy="320040"/>
          </a:xfrm>
          <a:prstGeom prst="rect">
            <a:avLst/>
          </a:prstGeom>
          <a:noFill/>
        </p:spPr>
        <p:txBody>
          <a:bodyPr wrap="square">
            <a:spAutoFit/>
          </a:bodyPr>
          <a:lstStyle/>
          <a:p>
            <a:pPr algn="ctr">
              <a:defRPr sz="1400" b="1">
                <a:solidFill>
                  <a:srgbClr val="003366"/>
                </a:solidFill>
              </a:defRPr>
            </a:pPr>
            <a:r>
              <a:t>Kepentingan Pribadi</a:t>
            </a:r>
          </a:p>
        </p:txBody>
      </p:sp>
      <p:sp>
        <p:nvSpPr>
          <p:cNvPr id="8" name="TextBox 7"/>
          <p:cNvSpPr txBox="1"/>
          <p:nvPr/>
        </p:nvSpPr>
        <p:spPr>
          <a:xfrm>
            <a:off x="640080" y="2651760"/>
            <a:ext cx="3200400" cy="822960"/>
          </a:xfrm>
          <a:prstGeom prst="rect">
            <a:avLst/>
          </a:prstGeom>
          <a:noFill/>
        </p:spPr>
        <p:txBody>
          <a:bodyPr wrap="square">
            <a:spAutoFit/>
          </a:bodyPr>
          <a:lstStyle/>
          <a:p>
            <a:pPr algn="ctr">
              <a:defRPr sz="1100" b="0">
                <a:solidFill>
                  <a:srgbClr val="404040"/>
                </a:solidFill>
              </a:defRPr>
            </a:pPr>
            <a:r>
              <a:t>Ancaman dari kepentingan keuangan atau kepentingan lain yang tidak layak</a:t>
            </a:r>
          </a:p>
        </p:txBody>
      </p:sp>
      <p:sp>
        <p:nvSpPr>
          <p:cNvPr id="9" name="Rounded Rectangle 8"/>
          <p:cNvSpPr/>
          <p:nvPr/>
        </p:nvSpPr>
        <p:spPr>
          <a:xfrm>
            <a:off x="4297680" y="1280160"/>
            <a:ext cx="3566160" cy="228600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15000" y="1463039"/>
            <a:ext cx="731520" cy="73152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0" y="1645919"/>
            <a:ext cx="731520" cy="365760"/>
          </a:xfrm>
          <a:prstGeom prst="rect">
            <a:avLst/>
          </a:prstGeom>
          <a:noFill/>
        </p:spPr>
        <p:txBody>
          <a:bodyPr wrap="square">
            <a:spAutoFit/>
          </a:bodyPr>
          <a:lstStyle/>
          <a:p>
            <a:pPr algn="ctr">
              <a:defRPr sz="2400" b="1">
                <a:solidFill>
                  <a:srgbClr val="FFFFFF"/>
                </a:solidFill>
              </a:defRPr>
            </a:pPr>
            <a:r>
              <a:t>2</a:t>
            </a:r>
          </a:p>
        </p:txBody>
      </p:sp>
      <p:sp>
        <p:nvSpPr>
          <p:cNvPr id="12" name="TextBox 11"/>
          <p:cNvSpPr txBox="1"/>
          <p:nvPr/>
        </p:nvSpPr>
        <p:spPr>
          <a:xfrm>
            <a:off x="4480560" y="2286000"/>
            <a:ext cx="3200400" cy="320040"/>
          </a:xfrm>
          <a:prstGeom prst="rect">
            <a:avLst/>
          </a:prstGeom>
          <a:noFill/>
        </p:spPr>
        <p:txBody>
          <a:bodyPr wrap="square">
            <a:spAutoFit/>
          </a:bodyPr>
          <a:lstStyle/>
          <a:p>
            <a:pPr algn="ctr">
              <a:defRPr sz="1400" b="1">
                <a:solidFill>
                  <a:srgbClr val="8E44AD"/>
                </a:solidFill>
              </a:defRPr>
            </a:pPr>
            <a:r>
              <a:t>Telaah Pribadi</a:t>
            </a:r>
          </a:p>
        </p:txBody>
      </p:sp>
      <p:sp>
        <p:nvSpPr>
          <p:cNvPr id="13" name="TextBox 12"/>
          <p:cNvSpPr txBox="1"/>
          <p:nvPr/>
        </p:nvSpPr>
        <p:spPr>
          <a:xfrm>
            <a:off x="4480560" y="2651760"/>
            <a:ext cx="3200400" cy="822960"/>
          </a:xfrm>
          <a:prstGeom prst="rect">
            <a:avLst/>
          </a:prstGeom>
          <a:noFill/>
        </p:spPr>
        <p:txBody>
          <a:bodyPr wrap="square">
            <a:spAutoFit/>
          </a:bodyPr>
          <a:lstStyle/>
          <a:p>
            <a:pPr algn="ctr">
              <a:defRPr sz="1100" b="0">
                <a:solidFill>
                  <a:srgbClr val="404040"/>
                </a:solidFill>
              </a:defRPr>
            </a:pPr>
            <a:r>
              <a:t>Ancaman ketika mengevaluasi pertimbangan/pekerjaan sendiri sebelumnya</a:t>
            </a:r>
          </a:p>
        </p:txBody>
      </p:sp>
      <p:sp>
        <p:nvSpPr>
          <p:cNvPr id="14" name="Rounded Rectangle 13"/>
          <p:cNvSpPr/>
          <p:nvPr/>
        </p:nvSpPr>
        <p:spPr>
          <a:xfrm>
            <a:off x="8138160" y="1280160"/>
            <a:ext cx="3566160" cy="228600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55480" y="1463039"/>
            <a:ext cx="731520" cy="73152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55480" y="1645919"/>
            <a:ext cx="731520" cy="365760"/>
          </a:xfrm>
          <a:prstGeom prst="rect">
            <a:avLst/>
          </a:prstGeom>
          <a:noFill/>
        </p:spPr>
        <p:txBody>
          <a:bodyPr wrap="square">
            <a:spAutoFit/>
          </a:bodyPr>
          <a:lstStyle/>
          <a:p>
            <a:pPr algn="ctr">
              <a:defRPr sz="2400" b="1">
                <a:solidFill>
                  <a:srgbClr val="FFFFFF"/>
                </a:solidFill>
              </a:defRPr>
            </a:pPr>
            <a:r>
              <a:t>3</a:t>
            </a:r>
          </a:p>
        </p:txBody>
      </p:sp>
      <p:sp>
        <p:nvSpPr>
          <p:cNvPr id="17" name="TextBox 16"/>
          <p:cNvSpPr txBox="1"/>
          <p:nvPr/>
        </p:nvSpPr>
        <p:spPr>
          <a:xfrm>
            <a:off x="8321040" y="2286000"/>
            <a:ext cx="3200400" cy="320040"/>
          </a:xfrm>
          <a:prstGeom prst="rect">
            <a:avLst/>
          </a:prstGeom>
          <a:noFill/>
        </p:spPr>
        <p:txBody>
          <a:bodyPr wrap="square">
            <a:spAutoFit/>
          </a:bodyPr>
          <a:lstStyle/>
          <a:p>
            <a:pPr algn="ctr">
              <a:defRPr sz="1400" b="1">
                <a:solidFill>
                  <a:srgbClr val="27AE60"/>
                </a:solidFill>
              </a:defRPr>
            </a:pPr>
            <a:r>
              <a:t>Advokasi</a:t>
            </a:r>
          </a:p>
        </p:txBody>
      </p:sp>
      <p:sp>
        <p:nvSpPr>
          <p:cNvPr id="18" name="TextBox 17"/>
          <p:cNvSpPr txBox="1"/>
          <p:nvPr/>
        </p:nvSpPr>
        <p:spPr>
          <a:xfrm>
            <a:off x="8321040" y="2651760"/>
            <a:ext cx="3200400" cy="822960"/>
          </a:xfrm>
          <a:prstGeom prst="rect">
            <a:avLst/>
          </a:prstGeom>
          <a:noFill/>
        </p:spPr>
        <p:txBody>
          <a:bodyPr wrap="square">
            <a:spAutoFit/>
          </a:bodyPr>
          <a:lstStyle/>
          <a:p>
            <a:pPr algn="ctr">
              <a:defRPr sz="1100" b="0">
                <a:solidFill>
                  <a:srgbClr val="404040"/>
                </a:solidFill>
              </a:defRPr>
            </a:pPr>
            <a:r>
              <a:t>Ancaman ketika mendukung posisi klien sampai objektivitas terganggu</a:t>
            </a:r>
          </a:p>
        </p:txBody>
      </p:sp>
      <p:sp>
        <p:nvSpPr>
          <p:cNvPr id="19" name="Rounded Rectangle 18"/>
          <p:cNvSpPr/>
          <p:nvPr/>
        </p:nvSpPr>
        <p:spPr>
          <a:xfrm>
            <a:off x="457200" y="3840479"/>
            <a:ext cx="3566160" cy="228600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874519" y="4023359"/>
            <a:ext cx="731520" cy="73152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74519" y="4206240"/>
            <a:ext cx="731520" cy="365760"/>
          </a:xfrm>
          <a:prstGeom prst="rect">
            <a:avLst/>
          </a:prstGeom>
          <a:noFill/>
        </p:spPr>
        <p:txBody>
          <a:bodyPr wrap="square">
            <a:spAutoFit/>
          </a:bodyPr>
          <a:lstStyle/>
          <a:p>
            <a:pPr algn="ctr">
              <a:defRPr sz="2400" b="1">
                <a:solidFill>
                  <a:srgbClr val="FFFFFF"/>
                </a:solidFill>
              </a:defRPr>
            </a:pPr>
            <a:r>
              <a:t>4</a:t>
            </a:r>
          </a:p>
        </p:txBody>
      </p:sp>
      <p:sp>
        <p:nvSpPr>
          <p:cNvPr id="22" name="TextBox 21"/>
          <p:cNvSpPr txBox="1"/>
          <p:nvPr/>
        </p:nvSpPr>
        <p:spPr>
          <a:xfrm>
            <a:off x="640080" y="4846319"/>
            <a:ext cx="3200400" cy="320040"/>
          </a:xfrm>
          <a:prstGeom prst="rect">
            <a:avLst/>
          </a:prstGeom>
          <a:noFill/>
        </p:spPr>
        <p:txBody>
          <a:bodyPr wrap="square">
            <a:spAutoFit/>
          </a:bodyPr>
          <a:lstStyle/>
          <a:p>
            <a:pPr algn="ctr">
              <a:defRPr sz="1400" b="1">
                <a:solidFill>
                  <a:srgbClr val="E67E22"/>
                </a:solidFill>
              </a:defRPr>
            </a:pPr>
            <a:r>
              <a:t>Kedekatan</a:t>
            </a:r>
          </a:p>
        </p:txBody>
      </p:sp>
      <p:sp>
        <p:nvSpPr>
          <p:cNvPr id="23" name="TextBox 22"/>
          <p:cNvSpPr txBox="1"/>
          <p:nvPr/>
        </p:nvSpPr>
        <p:spPr>
          <a:xfrm>
            <a:off x="640080" y="5212079"/>
            <a:ext cx="3200400" cy="822960"/>
          </a:xfrm>
          <a:prstGeom prst="rect">
            <a:avLst/>
          </a:prstGeom>
          <a:noFill/>
        </p:spPr>
        <p:txBody>
          <a:bodyPr wrap="square">
            <a:spAutoFit/>
          </a:bodyPr>
          <a:lstStyle/>
          <a:p>
            <a:pPr algn="ctr">
              <a:defRPr sz="1100" b="0">
                <a:solidFill>
                  <a:srgbClr val="404040"/>
                </a:solidFill>
              </a:defRPr>
            </a:pPr>
            <a:r>
              <a:t>Ancaman dari hubungan terlalu dekat dengan klien yang mempengaruhi pertimbangan</a:t>
            </a:r>
          </a:p>
        </p:txBody>
      </p:sp>
      <p:sp>
        <p:nvSpPr>
          <p:cNvPr id="24" name="Rounded Rectangle 23"/>
          <p:cNvSpPr/>
          <p:nvPr/>
        </p:nvSpPr>
        <p:spPr>
          <a:xfrm>
            <a:off x="4297680" y="3840479"/>
            <a:ext cx="3566160" cy="228600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15000" y="4023359"/>
            <a:ext cx="731520" cy="73152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15000" y="4206240"/>
            <a:ext cx="731520" cy="365760"/>
          </a:xfrm>
          <a:prstGeom prst="rect">
            <a:avLst/>
          </a:prstGeom>
          <a:noFill/>
        </p:spPr>
        <p:txBody>
          <a:bodyPr wrap="square">
            <a:spAutoFit/>
          </a:bodyPr>
          <a:lstStyle/>
          <a:p>
            <a:pPr algn="ctr">
              <a:defRPr sz="2400" b="1">
                <a:solidFill>
                  <a:srgbClr val="FFFFFF"/>
                </a:solidFill>
              </a:defRPr>
            </a:pPr>
            <a:r>
              <a:t>5</a:t>
            </a:r>
          </a:p>
        </p:txBody>
      </p:sp>
      <p:sp>
        <p:nvSpPr>
          <p:cNvPr id="27" name="TextBox 26"/>
          <p:cNvSpPr txBox="1"/>
          <p:nvPr/>
        </p:nvSpPr>
        <p:spPr>
          <a:xfrm>
            <a:off x="4480560" y="4846319"/>
            <a:ext cx="3200400" cy="320040"/>
          </a:xfrm>
          <a:prstGeom prst="rect">
            <a:avLst/>
          </a:prstGeom>
          <a:noFill/>
        </p:spPr>
        <p:txBody>
          <a:bodyPr wrap="square">
            <a:spAutoFit/>
          </a:bodyPr>
          <a:lstStyle/>
          <a:p>
            <a:pPr algn="ctr">
              <a:defRPr sz="1400" b="1">
                <a:solidFill>
                  <a:srgbClr val="E74C3C"/>
                </a:solidFill>
              </a:defRPr>
            </a:pPr>
            <a:r>
              <a:t>Intimidasi</a:t>
            </a:r>
          </a:p>
        </p:txBody>
      </p:sp>
      <p:sp>
        <p:nvSpPr>
          <p:cNvPr id="28" name="TextBox 27"/>
          <p:cNvSpPr txBox="1"/>
          <p:nvPr/>
        </p:nvSpPr>
        <p:spPr>
          <a:xfrm>
            <a:off x="4480560" y="5212079"/>
            <a:ext cx="3200400" cy="822960"/>
          </a:xfrm>
          <a:prstGeom prst="rect">
            <a:avLst/>
          </a:prstGeom>
          <a:noFill/>
        </p:spPr>
        <p:txBody>
          <a:bodyPr wrap="square">
            <a:spAutoFit/>
          </a:bodyPr>
          <a:lstStyle/>
          <a:p>
            <a:pPr algn="ctr">
              <a:defRPr sz="1100" b="0">
                <a:solidFill>
                  <a:srgbClr val="404040"/>
                </a:solidFill>
              </a:defRPr>
            </a:pPr>
            <a:r>
              <a:t>Ancaman ketika merasa dihalangi untuk bertindak objektif karena tekanan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03  KERANGKA PERIKATAN ASURANS</a:t>
            </a:r>
          </a:p>
        </p:txBody>
      </p:sp>
      <p:sp>
        <p:nvSpPr>
          <p:cNvPr id="4" name="TextBox 3"/>
          <p:cNvSpPr txBox="1"/>
          <p:nvPr/>
        </p:nvSpPr>
        <p:spPr>
          <a:xfrm>
            <a:off x="457200" y="1188720"/>
            <a:ext cx="10972800" cy="365760"/>
          </a:xfrm>
          <a:prstGeom prst="rect">
            <a:avLst/>
          </a:prstGeom>
          <a:noFill/>
        </p:spPr>
        <p:txBody>
          <a:bodyPr wrap="square">
            <a:spAutoFit/>
          </a:bodyPr>
          <a:lstStyle/>
          <a:p>
            <a:pPr algn="l">
              <a:defRPr sz="2000" b="1">
                <a:solidFill>
                  <a:srgbClr val="003366"/>
                </a:solidFill>
              </a:defRPr>
            </a:pPr>
            <a:r>
              <a:t>Apa itu Perikatan Asurans?</a:t>
            </a:r>
          </a:p>
        </p:txBody>
      </p:sp>
      <p:sp>
        <p:nvSpPr>
          <p:cNvPr id="5" name="TextBox 4"/>
          <p:cNvSpPr txBox="1"/>
          <p:nvPr/>
        </p:nvSpPr>
        <p:spPr>
          <a:xfrm>
            <a:off x="457200" y="1645920"/>
            <a:ext cx="10972800" cy="731520"/>
          </a:xfrm>
          <a:prstGeom prst="rect">
            <a:avLst/>
          </a:prstGeom>
          <a:noFill/>
        </p:spPr>
        <p:txBody>
          <a:bodyPr wrap="square">
            <a:spAutoFit/>
          </a:bodyPr>
          <a:lstStyle/>
          <a:p>
            <a:pPr algn="l">
              <a:defRPr sz="1400" b="0">
                <a:solidFill>
                  <a:srgbClr val="404040"/>
                </a:solidFill>
              </a:defRPr>
            </a:pPr>
            <a:r>
              <a:t>Perikatan Asurans adalah perikatan di mana praktisi menyatakan suatu kesimpulan yang dirancang untuk meningkatkan tingkat keyakinan pengguna yang dituju selain pihak yang bertanggung jawab mengenai hasil pengukuran atau pengevaluasian hal pokok yang mendasari berdasarkan kriteria.</a:t>
            </a:r>
          </a:p>
        </p:txBody>
      </p:sp>
      <p:sp>
        <p:nvSpPr>
          <p:cNvPr id="6" name="TextBox 5"/>
          <p:cNvSpPr txBox="1"/>
          <p:nvPr/>
        </p:nvSpPr>
        <p:spPr>
          <a:xfrm>
            <a:off x="457200" y="2560320"/>
            <a:ext cx="5486400" cy="365760"/>
          </a:xfrm>
          <a:prstGeom prst="rect">
            <a:avLst/>
          </a:prstGeom>
          <a:noFill/>
        </p:spPr>
        <p:txBody>
          <a:bodyPr wrap="square">
            <a:spAutoFit/>
          </a:bodyPr>
          <a:lstStyle/>
          <a:p>
            <a:pPr algn="l">
              <a:defRPr sz="1600" b="1">
                <a:solidFill>
                  <a:srgbClr val="003366"/>
                </a:solidFill>
              </a:defRPr>
            </a:pPr>
            <a:r>
              <a:t>Jenis Perikatan Asurans</a:t>
            </a:r>
          </a:p>
        </p:txBody>
      </p:sp>
      <p:sp>
        <p:nvSpPr>
          <p:cNvPr id="7" name="Rounded Rectangle 6"/>
          <p:cNvSpPr/>
          <p:nvPr/>
        </p:nvSpPr>
        <p:spPr>
          <a:xfrm>
            <a:off x="457200" y="3017520"/>
            <a:ext cx="5486400" cy="164592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108960"/>
            <a:ext cx="5029200" cy="320040"/>
          </a:xfrm>
          <a:prstGeom prst="rect">
            <a:avLst/>
          </a:prstGeom>
          <a:noFill/>
        </p:spPr>
        <p:txBody>
          <a:bodyPr wrap="square">
            <a:spAutoFit/>
          </a:bodyPr>
          <a:lstStyle/>
          <a:p>
            <a:pPr algn="l">
              <a:defRPr sz="1400" b="1">
                <a:solidFill>
                  <a:srgbClr val="27AE60"/>
                </a:solidFill>
              </a:defRPr>
            </a:pPr>
            <a:r>
              <a:t>Perikatan Keyakinan Memadai</a:t>
            </a:r>
          </a:p>
        </p:txBody>
      </p:sp>
      <p:sp>
        <p:nvSpPr>
          <p:cNvPr id="9" name="TextBox 8"/>
          <p:cNvSpPr txBox="1"/>
          <p:nvPr/>
        </p:nvSpPr>
        <p:spPr>
          <a:xfrm>
            <a:off x="640080" y="3474720"/>
            <a:ext cx="5029200" cy="1005840"/>
          </a:xfrm>
          <a:prstGeom prst="rect">
            <a:avLst/>
          </a:prstGeom>
          <a:noFill/>
        </p:spPr>
        <p:txBody>
          <a:bodyPr wrap="square">
            <a:spAutoFit/>
          </a:bodyPr>
          <a:lstStyle/>
          <a:p>
            <a:pPr algn="l">
              <a:defRPr sz="1200" b="0">
                <a:solidFill>
                  <a:srgbClr val="404040"/>
                </a:solidFill>
              </a:defRPr>
            </a:pPr>
            <a:r>
              <a:t>Tingkat keyakinan: TINGGI</a:t>
            </a:r>
            <a:br/>
            <a:r>
              <a:t>Contoh: Audit Laporan Keuangan</a:t>
            </a:r>
            <a:br/>
            <a:r>
              <a:t>Kesimpulan: Bentuk positif (wajar/tidak wajar)</a:t>
            </a:r>
          </a:p>
        </p:txBody>
      </p:sp>
      <p:sp>
        <p:nvSpPr>
          <p:cNvPr id="10" name="Rounded Rectangle 9"/>
          <p:cNvSpPr/>
          <p:nvPr/>
        </p:nvSpPr>
        <p:spPr>
          <a:xfrm>
            <a:off x="6217920" y="3017520"/>
            <a:ext cx="5486400" cy="164592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108960"/>
            <a:ext cx="5029200" cy="320040"/>
          </a:xfrm>
          <a:prstGeom prst="rect">
            <a:avLst/>
          </a:prstGeom>
          <a:noFill/>
        </p:spPr>
        <p:txBody>
          <a:bodyPr wrap="square">
            <a:spAutoFit/>
          </a:bodyPr>
          <a:lstStyle/>
          <a:p>
            <a:pPr algn="l">
              <a:defRPr sz="1400" b="1">
                <a:solidFill>
                  <a:srgbClr val="E67E22"/>
                </a:solidFill>
              </a:defRPr>
            </a:pPr>
            <a:r>
              <a:t>Perikatan Keyakinan Terbatas</a:t>
            </a:r>
          </a:p>
        </p:txBody>
      </p:sp>
      <p:sp>
        <p:nvSpPr>
          <p:cNvPr id="12" name="TextBox 11"/>
          <p:cNvSpPr txBox="1"/>
          <p:nvPr/>
        </p:nvSpPr>
        <p:spPr>
          <a:xfrm>
            <a:off x="6400800" y="3474720"/>
            <a:ext cx="5029200" cy="1005840"/>
          </a:xfrm>
          <a:prstGeom prst="rect">
            <a:avLst/>
          </a:prstGeom>
          <a:noFill/>
        </p:spPr>
        <p:txBody>
          <a:bodyPr wrap="square">
            <a:spAutoFit/>
          </a:bodyPr>
          <a:lstStyle/>
          <a:p>
            <a:pPr algn="l">
              <a:defRPr sz="1200" b="0">
                <a:solidFill>
                  <a:srgbClr val="404040"/>
                </a:solidFill>
              </a:defRPr>
            </a:pPr>
            <a:r>
              <a:t>Tingkat keyakinan: MODERAT</a:t>
            </a:r>
            <a:br/>
            <a:r>
              <a:t>Contoh: Review Laporan Keuangan</a:t>
            </a:r>
            <a:br/>
            <a:r>
              <a:t>Kesimpulan: Bentuk negatif (tidak menemukan hal material)</a:t>
            </a:r>
          </a:p>
        </p:txBody>
      </p:sp>
      <p:sp>
        <p:nvSpPr>
          <p:cNvPr id="13" name="TextBox 12"/>
          <p:cNvSpPr txBox="1"/>
          <p:nvPr/>
        </p:nvSpPr>
        <p:spPr>
          <a:xfrm>
            <a:off x="457200" y="4846320"/>
            <a:ext cx="10972800" cy="365760"/>
          </a:xfrm>
          <a:prstGeom prst="rect">
            <a:avLst/>
          </a:prstGeom>
          <a:noFill/>
        </p:spPr>
        <p:txBody>
          <a:bodyPr wrap="square">
            <a:spAutoFit/>
          </a:bodyPr>
          <a:lstStyle/>
          <a:p>
            <a:pPr algn="ctr">
              <a:defRPr sz="1300" b="1">
                <a:solidFill>
                  <a:srgbClr val="003366"/>
                </a:solidFill>
              </a:defRPr>
            </a:pPr>
            <a:r>
              <a:t>Perbedaan utama: sifat, saat, dan luas prosedur yang dilakukan untuk memperoleh bukti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5 ELEMEN KUNCI PERIKATAN ASURANS</a:t>
            </a:r>
          </a:p>
        </p:txBody>
      </p:sp>
      <p:sp>
        <p:nvSpPr>
          <p:cNvPr id="4" name="TextBox 3"/>
          <p:cNvSpPr txBox="1"/>
          <p:nvPr/>
        </p:nvSpPr>
        <p:spPr>
          <a:xfrm>
            <a:off x="457200" y="1234440"/>
            <a:ext cx="10972800" cy="365760"/>
          </a:xfrm>
          <a:prstGeom prst="rect">
            <a:avLst/>
          </a:prstGeom>
          <a:noFill/>
        </p:spPr>
        <p:txBody>
          <a:bodyPr wrap="square">
            <a:spAutoFit/>
          </a:bodyPr>
          <a:lstStyle/>
          <a:p>
            <a:pPr algn="l">
              <a:defRPr sz="1600" b="1">
                <a:solidFill>
                  <a:srgbClr val="003366"/>
                </a:solidFill>
              </a:defRPr>
            </a:pPr>
            <a:r>
              <a:t>Setiap perikatan asurans harus memiliki 5 elemen berikut:</a:t>
            </a:r>
          </a:p>
        </p:txBody>
      </p:sp>
      <p:sp>
        <p:nvSpPr>
          <p:cNvPr id="5" name="Oval 4"/>
          <p:cNvSpPr/>
          <p:nvPr/>
        </p:nvSpPr>
        <p:spPr>
          <a:xfrm>
            <a:off x="457200" y="1737360"/>
            <a:ext cx="548640" cy="54864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56231"/>
            <a:ext cx="548640" cy="320040"/>
          </a:xfrm>
          <a:prstGeom prst="rect">
            <a:avLst/>
          </a:prstGeom>
          <a:noFill/>
        </p:spPr>
        <p:txBody>
          <a:bodyPr wrap="square">
            <a:spAutoFit/>
          </a:bodyPr>
          <a:lstStyle/>
          <a:p>
            <a:pPr algn="ctr">
              <a:defRPr sz="2000" b="1">
                <a:solidFill>
                  <a:srgbClr val="FFFFFF"/>
                </a:solidFill>
              </a:defRPr>
            </a:pPr>
            <a:r>
              <a:t>1</a:t>
            </a:r>
          </a:p>
        </p:txBody>
      </p:sp>
      <p:sp>
        <p:nvSpPr>
          <p:cNvPr id="7" name="Right Arrow 6"/>
          <p:cNvSpPr/>
          <p:nvPr/>
        </p:nvSpPr>
        <p:spPr>
          <a:xfrm>
            <a:off x="1097280" y="1874519"/>
            <a:ext cx="457200" cy="274320"/>
          </a:xfrm>
          <a:prstGeom prst="rightArrow">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45920" y="1737360"/>
            <a:ext cx="10058400" cy="82296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828800"/>
            <a:ext cx="9601200" cy="320040"/>
          </a:xfrm>
          <a:prstGeom prst="rect">
            <a:avLst/>
          </a:prstGeom>
          <a:noFill/>
        </p:spPr>
        <p:txBody>
          <a:bodyPr wrap="square">
            <a:spAutoFit/>
          </a:bodyPr>
          <a:lstStyle/>
          <a:p>
            <a:pPr algn="l">
              <a:defRPr sz="1600" b="1">
                <a:solidFill>
                  <a:srgbClr val="003366"/>
                </a:solidFill>
              </a:defRPr>
            </a:pPr>
            <a:r>
              <a:t>Hubungan Tiga Pihak</a:t>
            </a:r>
          </a:p>
        </p:txBody>
      </p:sp>
      <p:sp>
        <p:nvSpPr>
          <p:cNvPr id="10" name="TextBox 9"/>
          <p:cNvSpPr txBox="1"/>
          <p:nvPr/>
        </p:nvSpPr>
        <p:spPr>
          <a:xfrm>
            <a:off x="1828800" y="2194560"/>
            <a:ext cx="9601200" cy="320040"/>
          </a:xfrm>
          <a:prstGeom prst="rect">
            <a:avLst/>
          </a:prstGeom>
          <a:noFill/>
        </p:spPr>
        <p:txBody>
          <a:bodyPr wrap="square">
            <a:spAutoFit/>
          </a:bodyPr>
          <a:lstStyle/>
          <a:p>
            <a:pPr algn="l">
              <a:defRPr sz="1200" b="0">
                <a:solidFill>
                  <a:srgbClr val="404040"/>
                </a:solidFill>
              </a:defRPr>
            </a:pPr>
            <a:r>
              <a:t>Praktisi, Pihak Bertanggung Jawab, Pengguna yang Dituju</a:t>
            </a:r>
          </a:p>
        </p:txBody>
      </p:sp>
      <p:sp>
        <p:nvSpPr>
          <p:cNvPr id="11" name="Oval 10"/>
          <p:cNvSpPr/>
          <p:nvPr/>
        </p:nvSpPr>
        <p:spPr>
          <a:xfrm>
            <a:off x="457200" y="2697480"/>
            <a:ext cx="548640" cy="54864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816352"/>
            <a:ext cx="548640" cy="320040"/>
          </a:xfrm>
          <a:prstGeom prst="rect">
            <a:avLst/>
          </a:prstGeom>
          <a:noFill/>
        </p:spPr>
        <p:txBody>
          <a:bodyPr wrap="square">
            <a:spAutoFit/>
          </a:bodyPr>
          <a:lstStyle/>
          <a:p>
            <a:pPr algn="ctr">
              <a:defRPr sz="2000" b="1">
                <a:solidFill>
                  <a:srgbClr val="FFFFFF"/>
                </a:solidFill>
              </a:defRPr>
            </a:pPr>
            <a:r>
              <a:t>2</a:t>
            </a:r>
          </a:p>
        </p:txBody>
      </p:sp>
      <p:sp>
        <p:nvSpPr>
          <p:cNvPr id="13" name="Right Arrow 12"/>
          <p:cNvSpPr/>
          <p:nvPr/>
        </p:nvSpPr>
        <p:spPr>
          <a:xfrm>
            <a:off x="1097280" y="2834640"/>
            <a:ext cx="457200" cy="274320"/>
          </a:xfrm>
          <a:prstGeom prst="rightArrow">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645920" y="2697480"/>
            <a:ext cx="10058400" cy="82296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0" y="2788920"/>
            <a:ext cx="9601200" cy="320040"/>
          </a:xfrm>
          <a:prstGeom prst="rect">
            <a:avLst/>
          </a:prstGeom>
          <a:noFill/>
        </p:spPr>
        <p:txBody>
          <a:bodyPr wrap="square">
            <a:spAutoFit/>
          </a:bodyPr>
          <a:lstStyle/>
          <a:p>
            <a:pPr algn="l">
              <a:defRPr sz="1600" b="1">
                <a:solidFill>
                  <a:srgbClr val="8E44AD"/>
                </a:solidFill>
              </a:defRPr>
            </a:pPr>
            <a:r>
              <a:t>Hal Pokok yang Mendasari</a:t>
            </a:r>
          </a:p>
        </p:txBody>
      </p:sp>
      <p:sp>
        <p:nvSpPr>
          <p:cNvPr id="16" name="TextBox 15"/>
          <p:cNvSpPr txBox="1"/>
          <p:nvPr/>
        </p:nvSpPr>
        <p:spPr>
          <a:xfrm>
            <a:off x="1828800" y="3154680"/>
            <a:ext cx="9601200" cy="320040"/>
          </a:xfrm>
          <a:prstGeom prst="rect">
            <a:avLst/>
          </a:prstGeom>
          <a:noFill/>
        </p:spPr>
        <p:txBody>
          <a:bodyPr wrap="square">
            <a:spAutoFit/>
          </a:bodyPr>
          <a:lstStyle/>
          <a:p>
            <a:pPr algn="l">
              <a:defRPr sz="1200" b="0">
                <a:solidFill>
                  <a:srgbClr val="404040"/>
                </a:solidFill>
              </a:defRPr>
            </a:pPr>
            <a:r>
              <a:t>Objek/informasi yang dievaluasi atau diukur</a:t>
            </a:r>
          </a:p>
        </p:txBody>
      </p:sp>
      <p:sp>
        <p:nvSpPr>
          <p:cNvPr id="17" name="Oval 16"/>
          <p:cNvSpPr/>
          <p:nvPr/>
        </p:nvSpPr>
        <p:spPr>
          <a:xfrm>
            <a:off x="457200" y="3657600"/>
            <a:ext cx="548640" cy="54864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776472"/>
            <a:ext cx="548640" cy="320040"/>
          </a:xfrm>
          <a:prstGeom prst="rect">
            <a:avLst/>
          </a:prstGeom>
          <a:noFill/>
        </p:spPr>
        <p:txBody>
          <a:bodyPr wrap="square">
            <a:spAutoFit/>
          </a:bodyPr>
          <a:lstStyle/>
          <a:p>
            <a:pPr algn="ctr">
              <a:defRPr sz="2000" b="1">
                <a:solidFill>
                  <a:srgbClr val="FFFFFF"/>
                </a:solidFill>
              </a:defRPr>
            </a:pPr>
            <a:r>
              <a:t>3</a:t>
            </a:r>
          </a:p>
        </p:txBody>
      </p:sp>
      <p:sp>
        <p:nvSpPr>
          <p:cNvPr id="19" name="Right Arrow 18"/>
          <p:cNvSpPr/>
          <p:nvPr/>
        </p:nvSpPr>
        <p:spPr>
          <a:xfrm>
            <a:off x="1097280" y="3794760"/>
            <a:ext cx="457200" cy="274320"/>
          </a:xfrm>
          <a:prstGeom prst="right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45920" y="3657600"/>
            <a:ext cx="10058400" cy="82296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3749039"/>
            <a:ext cx="9601200" cy="320040"/>
          </a:xfrm>
          <a:prstGeom prst="rect">
            <a:avLst/>
          </a:prstGeom>
          <a:noFill/>
        </p:spPr>
        <p:txBody>
          <a:bodyPr wrap="square">
            <a:spAutoFit/>
          </a:bodyPr>
          <a:lstStyle/>
          <a:p>
            <a:pPr algn="l">
              <a:defRPr sz="1600" b="1">
                <a:solidFill>
                  <a:srgbClr val="27AE60"/>
                </a:solidFill>
              </a:defRPr>
            </a:pPr>
            <a:r>
              <a:t>Kriteria yang Sesuai</a:t>
            </a:r>
          </a:p>
        </p:txBody>
      </p:sp>
      <p:sp>
        <p:nvSpPr>
          <p:cNvPr id="22" name="TextBox 21"/>
          <p:cNvSpPr txBox="1"/>
          <p:nvPr/>
        </p:nvSpPr>
        <p:spPr>
          <a:xfrm>
            <a:off x="1828800" y="4114800"/>
            <a:ext cx="9601200" cy="320040"/>
          </a:xfrm>
          <a:prstGeom prst="rect">
            <a:avLst/>
          </a:prstGeom>
          <a:noFill/>
        </p:spPr>
        <p:txBody>
          <a:bodyPr wrap="square">
            <a:spAutoFit/>
          </a:bodyPr>
          <a:lstStyle/>
          <a:p>
            <a:pPr algn="l">
              <a:defRPr sz="1200" b="0">
                <a:solidFill>
                  <a:srgbClr val="404040"/>
                </a:solidFill>
              </a:defRPr>
            </a:pPr>
            <a:r>
              <a:t>Tolok ukur untuk mengevaluasi hal pokok</a:t>
            </a:r>
          </a:p>
        </p:txBody>
      </p:sp>
      <p:sp>
        <p:nvSpPr>
          <p:cNvPr id="23" name="Oval 22"/>
          <p:cNvSpPr/>
          <p:nvPr/>
        </p:nvSpPr>
        <p:spPr>
          <a:xfrm>
            <a:off x="457200" y="4617720"/>
            <a:ext cx="548640" cy="54864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36592"/>
            <a:ext cx="548640" cy="320040"/>
          </a:xfrm>
          <a:prstGeom prst="rect">
            <a:avLst/>
          </a:prstGeom>
          <a:noFill/>
        </p:spPr>
        <p:txBody>
          <a:bodyPr wrap="square">
            <a:spAutoFit/>
          </a:bodyPr>
          <a:lstStyle/>
          <a:p>
            <a:pPr algn="ctr">
              <a:defRPr sz="2000" b="1">
                <a:solidFill>
                  <a:srgbClr val="FFFFFF"/>
                </a:solidFill>
              </a:defRPr>
            </a:pPr>
            <a:r>
              <a:t>4</a:t>
            </a:r>
          </a:p>
        </p:txBody>
      </p:sp>
      <p:sp>
        <p:nvSpPr>
          <p:cNvPr id="25" name="Right Arrow 24"/>
          <p:cNvSpPr/>
          <p:nvPr/>
        </p:nvSpPr>
        <p:spPr>
          <a:xfrm>
            <a:off x="1097280" y="4754880"/>
            <a:ext cx="457200" cy="274320"/>
          </a:xfrm>
          <a:prstGeom prst="rightArrow">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45920" y="4617720"/>
            <a:ext cx="10058400" cy="82296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28800" y="4709160"/>
            <a:ext cx="9601200" cy="320040"/>
          </a:xfrm>
          <a:prstGeom prst="rect">
            <a:avLst/>
          </a:prstGeom>
          <a:noFill/>
        </p:spPr>
        <p:txBody>
          <a:bodyPr wrap="square">
            <a:spAutoFit/>
          </a:bodyPr>
          <a:lstStyle/>
          <a:p>
            <a:pPr algn="l">
              <a:defRPr sz="1600" b="1">
                <a:solidFill>
                  <a:srgbClr val="E67E22"/>
                </a:solidFill>
              </a:defRPr>
            </a:pPr>
            <a:r>
              <a:t>Bukti yang Cukup dan Tepat</a:t>
            </a:r>
          </a:p>
        </p:txBody>
      </p:sp>
      <p:sp>
        <p:nvSpPr>
          <p:cNvPr id="28" name="TextBox 27"/>
          <p:cNvSpPr txBox="1"/>
          <p:nvPr/>
        </p:nvSpPr>
        <p:spPr>
          <a:xfrm>
            <a:off x="1828800" y="5074920"/>
            <a:ext cx="9601200" cy="320040"/>
          </a:xfrm>
          <a:prstGeom prst="rect">
            <a:avLst/>
          </a:prstGeom>
          <a:noFill/>
        </p:spPr>
        <p:txBody>
          <a:bodyPr wrap="square">
            <a:spAutoFit/>
          </a:bodyPr>
          <a:lstStyle/>
          <a:p>
            <a:pPr algn="l">
              <a:defRPr sz="1200" b="0">
                <a:solidFill>
                  <a:srgbClr val="404040"/>
                </a:solidFill>
              </a:defRPr>
            </a:pPr>
            <a:r>
              <a:t>Dasar untuk menyatakan kesimpulan</a:t>
            </a:r>
          </a:p>
        </p:txBody>
      </p:sp>
      <p:sp>
        <p:nvSpPr>
          <p:cNvPr id="29" name="Oval 28"/>
          <p:cNvSpPr/>
          <p:nvPr/>
        </p:nvSpPr>
        <p:spPr>
          <a:xfrm>
            <a:off x="457200" y="5577840"/>
            <a:ext cx="548640" cy="54864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696712"/>
            <a:ext cx="548640" cy="320040"/>
          </a:xfrm>
          <a:prstGeom prst="rect">
            <a:avLst/>
          </a:prstGeom>
          <a:noFill/>
        </p:spPr>
        <p:txBody>
          <a:bodyPr wrap="square">
            <a:spAutoFit/>
          </a:bodyPr>
          <a:lstStyle/>
          <a:p>
            <a:pPr algn="ctr">
              <a:defRPr sz="2000" b="1">
                <a:solidFill>
                  <a:srgbClr val="FFFFFF"/>
                </a:solidFill>
              </a:defRPr>
            </a:pPr>
            <a:r>
              <a:t>5</a:t>
            </a:r>
          </a:p>
        </p:txBody>
      </p:sp>
      <p:sp>
        <p:nvSpPr>
          <p:cNvPr id="31" name="Right Arrow 30"/>
          <p:cNvSpPr/>
          <p:nvPr/>
        </p:nvSpPr>
        <p:spPr>
          <a:xfrm>
            <a:off x="1097280" y="5715000"/>
            <a:ext cx="457200" cy="274320"/>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645920" y="5577840"/>
            <a:ext cx="10058400" cy="82296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0" y="5669279"/>
            <a:ext cx="9601200" cy="320040"/>
          </a:xfrm>
          <a:prstGeom prst="rect">
            <a:avLst/>
          </a:prstGeom>
          <a:noFill/>
        </p:spPr>
        <p:txBody>
          <a:bodyPr wrap="square">
            <a:spAutoFit/>
          </a:bodyPr>
          <a:lstStyle/>
          <a:p>
            <a:pPr algn="l">
              <a:defRPr sz="1600" b="1">
                <a:solidFill>
                  <a:srgbClr val="E74C3C"/>
                </a:solidFill>
              </a:defRPr>
            </a:pPr>
            <a:r>
              <a:t>Laporan Asurans Tertulis</a:t>
            </a:r>
          </a:p>
        </p:txBody>
      </p:sp>
      <p:sp>
        <p:nvSpPr>
          <p:cNvPr id="34" name="TextBox 33"/>
          <p:cNvSpPr txBox="1"/>
          <p:nvPr/>
        </p:nvSpPr>
        <p:spPr>
          <a:xfrm>
            <a:off x="1828800" y="6035040"/>
            <a:ext cx="9601200" cy="320040"/>
          </a:xfrm>
          <a:prstGeom prst="rect">
            <a:avLst/>
          </a:prstGeom>
          <a:noFill/>
        </p:spPr>
        <p:txBody>
          <a:bodyPr wrap="square">
            <a:spAutoFit/>
          </a:bodyPr>
          <a:lstStyle/>
          <a:p>
            <a:pPr algn="l">
              <a:defRPr sz="1200" b="0">
                <a:solidFill>
                  <a:srgbClr val="404040"/>
                </a:solidFill>
              </a:defRPr>
            </a:pPr>
            <a:r>
              <a:t>Dokumen formal berisi kesimpulan praktisi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ELEMEN 1: HUBUNGAN TIGA PIHAK</a:t>
            </a:r>
          </a:p>
        </p:txBody>
      </p:sp>
      <p:sp>
        <p:nvSpPr>
          <p:cNvPr id="4" name="Oval 3"/>
          <p:cNvSpPr/>
          <p:nvPr/>
        </p:nvSpPr>
        <p:spPr>
          <a:xfrm>
            <a:off x="5180990" y="1371600"/>
            <a:ext cx="1828800" cy="10972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80990" y="1691640"/>
            <a:ext cx="1828800" cy="457200"/>
          </a:xfrm>
          <a:prstGeom prst="rect">
            <a:avLst/>
          </a:prstGeom>
          <a:noFill/>
        </p:spPr>
        <p:txBody>
          <a:bodyPr wrap="square">
            <a:spAutoFit/>
          </a:bodyPr>
          <a:lstStyle/>
          <a:p>
            <a:pPr algn="ctr">
              <a:defRPr sz="1400" b="1">
                <a:solidFill>
                  <a:srgbClr val="FFFFFF"/>
                </a:solidFill>
              </a:defRPr>
            </a:pPr>
            <a:r>
              <a:t>PRAKTISI</a:t>
            </a:r>
          </a:p>
        </p:txBody>
      </p:sp>
      <p:sp>
        <p:nvSpPr>
          <p:cNvPr id="6" name="Oval 5"/>
          <p:cNvSpPr/>
          <p:nvPr/>
        </p:nvSpPr>
        <p:spPr>
          <a:xfrm>
            <a:off x="2286000" y="3474720"/>
            <a:ext cx="2286000" cy="109728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3657600"/>
            <a:ext cx="2286000" cy="731520"/>
          </a:xfrm>
          <a:prstGeom prst="rect">
            <a:avLst/>
          </a:prstGeom>
          <a:noFill/>
        </p:spPr>
        <p:txBody>
          <a:bodyPr wrap="square">
            <a:spAutoFit/>
          </a:bodyPr>
          <a:lstStyle/>
          <a:p>
            <a:pPr algn="ctr">
              <a:defRPr sz="1200" b="1">
                <a:solidFill>
                  <a:srgbClr val="FFFFFF"/>
                </a:solidFill>
              </a:defRPr>
            </a:pPr>
            <a:r>
              <a:t>PIHAK</a:t>
            </a:r>
            <a:br/>
            <a:r>
              <a:t>BERTANGGUNG JAWAB</a:t>
            </a:r>
          </a:p>
        </p:txBody>
      </p:sp>
      <p:sp>
        <p:nvSpPr>
          <p:cNvPr id="8" name="Oval 7"/>
          <p:cNvSpPr/>
          <p:nvPr/>
        </p:nvSpPr>
        <p:spPr>
          <a:xfrm>
            <a:off x="7619695" y="3474720"/>
            <a:ext cx="2286000" cy="109728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9695" y="3657600"/>
            <a:ext cx="2286000" cy="731520"/>
          </a:xfrm>
          <a:prstGeom prst="rect">
            <a:avLst/>
          </a:prstGeom>
          <a:noFill/>
        </p:spPr>
        <p:txBody>
          <a:bodyPr wrap="square">
            <a:spAutoFit/>
          </a:bodyPr>
          <a:lstStyle/>
          <a:p>
            <a:pPr algn="ctr">
              <a:defRPr sz="1200" b="1">
                <a:solidFill>
                  <a:srgbClr val="FFFFFF"/>
                </a:solidFill>
              </a:defRPr>
            </a:pPr>
            <a:r>
              <a:t>PENGGUNA</a:t>
            </a:r>
            <a:br/>
            <a:r>
              <a:t>YANG DITUJU</a:t>
            </a:r>
          </a:p>
        </p:txBody>
      </p:sp>
      <p:sp>
        <p:nvSpPr>
          <p:cNvPr id="10" name="Rectangle 9"/>
          <p:cNvSpPr/>
          <p:nvPr/>
        </p:nvSpPr>
        <p:spPr>
          <a:xfrm rot="2700000">
            <a:off x="3840480" y="2286000"/>
            <a:ext cx="1645920" cy="274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18900000">
            <a:off x="6675120" y="2286000"/>
            <a:ext cx="1645920" cy="274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4023360"/>
            <a:ext cx="3108960" cy="274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846320"/>
            <a:ext cx="3657600" cy="365760"/>
          </a:xfrm>
          <a:prstGeom prst="rect">
            <a:avLst/>
          </a:prstGeom>
          <a:noFill/>
        </p:spPr>
        <p:txBody>
          <a:bodyPr wrap="square">
            <a:spAutoFit/>
          </a:bodyPr>
          <a:lstStyle/>
          <a:p>
            <a:pPr algn="l">
              <a:defRPr sz="1100" b="0">
                <a:solidFill>
                  <a:srgbClr val="003366"/>
                </a:solidFill>
              </a:defRPr>
            </a:pPr>
            <a:r>
              <a:t>Praktisi: Akuntan publik yang melakukan perikatan asurans</a:t>
            </a:r>
          </a:p>
        </p:txBody>
      </p:sp>
      <p:sp>
        <p:nvSpPr>
          <p:cNvPr id="14" name="TextBox 13"/>
          <p:cNvSpPr txBox="1"/>
          <p:nvPr/>
        </p:nvSpPr>
        <p:spPr>
          <a:xfrm>
            <a:off x="4266590" y="4846320"/>
            <a:ext cx="3657600" cy="365760"/>
          </a:xfrm>
          <a:prstGeom prst="rect">
            <a:avLst/>
          </a:prstGeom>
          <a:noFill/>
        </p:spPr>
        <p:txBody>
          <a:bodyPr wrap="square">
            <a:spAutoFit/>
          </a:bodyPr>
          <a:lstStyle/>
          <a:p>
            <a:pPr algn="l">
              <a:defRPr sz="1100" b="0">
                <a:solidFill>
                  <a:srgbClr val="27AE60"/>
                </a:solidFill>
              </a:defRPr>
            </a:pPr>
            <a:r>
              <a:t>Pihak Bertanggung Jawab: Pihak yang menyiapkan hal pokok</a:t>
            </a:r>
          </a:p>
        </p:txBody>
      </p:sp>
      <p:sp>
        <p:nvSpPr>
          <p:cNvPr id="15" name="TextBox 14"/>
          <p:cNvSpPr txBox="1"/>
          <p:nvPr/>
        </p:nvSpPr>
        <p:spPr>
          <a:xfrm>
            <a:off x="8076895" y="4846320"/>
            <a:ext cx="3657600" cy="365760"/>
          </a:xfrm>
          <a:prstGeom prst="rect">
            <a:avLst/>
          </a:prstGeom>
          <a:noFill/>
        </p:spPr>
        <p:txBody>
          <a:bodyPr wrap="square">
            <a:spAutoFit/>
          </a:bodyPr>
          <a:lstStyle/>
          <a:p>
            <a:pPr algn="l">
              <a:defRPr sz="1100" b="0">
                <a:solidFill>
                  <a:srgbClr val="E67E22"/>
                </a:solidFill>
              </a:defRPr>
            </a:pPr>
            <a:r>
              <a:t>Pengguna yang Dituju: Pihak yang menggunakan laporan asurans</a:t>
            </a:r>
          </a:p>
        </p:txBody>
      </p:sp>
      <p:sp>
        <p:nvSpPr>
          <p:cNvPr id="16" name="Rounded Rectangle 15"/>
          <p:cNvSpPr/>
          <p:nvPr/>
        </p:nvSpPr>
        <p:spPr>
          <a:xfrm>
            <a:off x="457200" y="5394960"/>
            <a:ext cx="11277295" cy="109728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486400"/>
            <a:ext cx="1828800" cy="274320"/>
          </a:xfrm>
          <a:prstGeom prst="rect">
            <a:avLst/>
          </a:prstGeom>
          <a:noFill/>
        </p:spPr>
        <p:txBody>
          <a:bodyPr wrap="square">
            <a:spAutoFit/>
          </a:bodyPr>
          <a:lstStyle/>
          <a:p>
            <a:pPr algn="l">
              <a:defRPr sz="1200" b="1">
                <a:solidFill>
                  <a:srgbClr val="003366"/>
                </a:solidFill>
              </a:defRPr>
            </a:pPr>
            <a:r>
              <a:t>Catatan Penting:</a:t>
            </a:r>
          </a:p>
        </p:txBody>
      </p:sp>
      <p:sp>
        <p:nvSpPr>
          <p:cNvPr id="18" name="TextBox 17"/>
          <p:cNvSpPr txBox="1"/>
          <p:nvPr/>
        </p:nvSpPr>
        <p:spPr>
          <a:xfrm>
            <a:off x="640080" y="5760720"/>
            <a:ext cx="10881360" cy="640080"/>
          </a:xfrm>
          <a:prstGeom prst="rect">
            <a:avLst/>
          </a:prstGeom>
          <a:noFill/>
        </p:spPr>
        <p:txBody>
          <a:bodyPr wrap="square">
            <a:spAutoFit/>
          </a:bodyPr>
          <a:lstStyle/>
          <a:p>
            <a:pPr algn="l">
              <a:defRPr sz="1100" b="0">
                <a:solidFill>
                  <a:srgbClr val="404040"/>
                </a:solidFill>
              </a:defRPr>
            </a:pPr>
            <a:r>
              <a:t>Pihak bertanggung jawab dan pengguna yang dituju dapat berasal dari entitas yang berbeda atau sama. Contoh: Dalam audit laporan keuangan, manajemen adalah pihak bertanggung jawab, sedangkan pemegang saham dan kreditor adalah pengguna yang dituju.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ELEMEN 2: HAL POKOK YANG MENDASARI</a:t>
            </a:r>
          </a:p>
        </p:txBody>
      </p:sp>
      <p:sp>
        <p:nvSpPr>
          <p:cNvPr id="4" name="TextBox 3"/>
          <p:cNvSpPr txBox="1"/>
          <p:nvPr/>
        </p:nvSpPr>
        <p:spPr>
          <a:xfrm>
            <a:off x="457200" y="1188720"/>
            <a:ext cx="10972800" cy="365760"/>
          </a:xfrm>
          <a:prstGeom prst="rect">
            <a:avLst/>
          </a:prstGeom>
          <a:noFill/>
        </p:spPr>
        <p:txBody>
          <a:bodyPr wrap="square">
            <a:spAutoFit/>
          </a:bodyPr>
          <a:lstStyle/>
          <a:p>
            <a:pPr algn="l">
              <a:defRPr sz="1800" b="1">
                <a:solidFill>
                  <a:srgbClr val="003366"/>
                </a:solidFill>
              </a:defRPr>
            </a:pPr>
            <a:r>
              <a:t>Hal Pokok vs Informasi Hal Pokok</a:t>
            </a:r>
          </a:p>
        </p:txBody>
      </p:sp>
      <p:sp>
        <p:nvSpPr>
          <p:cNvPr id="5" name="Rounded Rectangle 4"/>
          <p:cNvSpPr/>
          <p:nvPr/>
        </p:nvSpPr>
        <p:spPr>
          <a:xfrm>
            <a:off x="457200" y="1645920"/>
            <a:ext cx="5486400" cy="182880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5029200" cy="320040"/>
          </a:xfrm>
          <a:prstGeom prst="rect">
            <a:avLst/>
          </a:prstGeom>
          <a:noFill/>
        </p:spPr>
        <p:txBody>
          <a:bodyPr wrap="square">
            <a:spAutoFit/>
          </a:bodyPr>
          <a:lstStyle/>
          <a:p>
            <a:pPr algn="l">
              <a:defRPr sz="1400" b="1">
                <a:solidFill>
                  <a:srgbClr val="8E44AD"/>
                </a:solidFill>
              </a:defRPr>
            </a:pPr>
            <a:r>
              <a:t>Hal Pokok yang Mendasari</a:t>
            </a:r>
          </a:p>
        </p:txBody>
      </p:sp>
      <p:sp>
        <p:nvSpPr>
          <p:cNvPr id="7" name="TextBox 6"/>
          <p:cNvSpPr txBox="1"/>
          <p:nvPr/>
        </p:nvSpPr>
        <p:spPr>
          <a:xfrm>
            <a:off x="640080" y="2103120"/>
            <a:ext cx="5029200" cy="1280160"/>
          </a:xfrm>
          <a:prstGeom prst="rect">
            <a:avLst/>
          </a:prstGeom>
          <a:noFill/>
        </p:spPr>
        <p:txBody>
          <a:bodyPr wrap="square">
            <a:spAutoFit/>
          </a:bodyPr>
          <a:lstStyle/>
          <a:p>
            <a:pPr algn="l">
              <a:defRPr sz="1200" b="0">
                <a:solidFill>
                  <a:srgbClr val="404040"/>
                </a:solidFill>
              </a:defRPr>
            </a:pPr>
            <a:r>
              <a:t>Adalah kondisi, kejadian, atau aktivitas yang menjadi objek perikatan. Hal pokok dapat berbentuk:</a:t>
            </a:r>
            <a:br/>
            <a:br/>
            <a:r>
              <a:t>  Kondisi keuangan (posisi/kinerja)</a:t>
            </a:r>
            <a:br/>
            <a:r>
              <a:t>  Sistem pengendalian internal</a:t>
            </a:r>
            <a:br/>
            <a:r>
              <a:t>  Kepatuhan terhadap regulasi</a:t>
            </a:r>
            <a:br/>
            <a:r>
              <a:t>  Keberlanjutan (sustainability)</a:t>
            </a:r>
          </a:p>
        </p:txBody>
      </p:sp>
      <p:sp>
        <p:nvSpPr>
          <p:cNvPr id="8" name="Rounded Rectangle 7"/>
          <p:cNvSpPr/>
          <p:nvPr/>
        </p:nvSpPr>
        <p:spPr>
          <a:xfrm>
            <a:off x="6248095" y="1645920"/>
            <a:ext cx="5486400" cy="182880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0975" y="1737360"/>
            <a:ext cx="5029200" cy="320040"/>
          </a:xfrm>
          <a:prstGeom prst="rect">
            <a:avLst/>
          </a:prstGeom>
          <a:noFill/>
        </p:spPr>
        <p:txBody>
          <a:bodyPr wrap="square">
            <a:spAutoFit/>
          </a:bodyPr>
          <a:lstStyle/>
          <a:p>
            <a:pPr algn="l">
              <a:defRPr sz="1400" b="1">
                <a:solidFill>
                  <a:srgbClr val="27AE60"/>
                </a:solidFill>
              </a:defRPr>
            </a:pPr>
            <a:r>
              <a:t>Informasi Hal Pokok</a:t>
            </a:r>
          </a:p>
        </p:txBody>
      </p:sp>
      <p:sp>
        <p:nvSpPr>
          <p:cNvPr id="10" name="TextBox 9"/>
          <p:cNvSpPr txBox="1"/>
          <p:nvPr/>
        </p:nvSpPr>
        <p:spPr>
          <a:xfrm>
            <a:off x="6430975" y="2103120"/>
            <a:ext cx="5029200" cy="1280160"/>
          </a:xfrm>
          <a:prstGeom prst="rect">
            <a:avLst/>
          </a:prstGeom>
          <a:noFill/>
        </p:spPr>
        <p:txBody>
          <a:bodyPr wrap="square">
            <a:spAutoFit/>
          </a:bodyPr>
          <a:lstStyle/>
          <a:p>
            <a:pPr algn="l">
              <a:defRPr sz="1200" b="0">
                <a:solidFill>
                  <a:srgbClr val="404040"/>
                </a:solidFill>
              </a:defRPr>
            </a:pPr>
            <a:r>
              <a:t>Adalah hasil pengukuran atau pengevaluasian hal pokok yang mendasari terhadap kriteria. Contoh:</a:t>
            </a:r>
            <a:br/>
            <a:br/>
            <a:r>
              <a:t>  Laporan keuangan</a:t>
            </a:r>
            <a:br/>
            <a:r>
              <a:t>  Laporan pengendalian internal</a:t>
            </a:r>
            <a:br/>
            <a:r>
              <a:t>  Pernyataan kepatuhan</a:t>
            </a:r>
            <a:br/>
            <a:r>
              <a:t>  Laporan keberlanjutan</a:t>
            </a:r>
          </a:p>
        </p:txBody>
      </p:sp>
      <p:sp>
        <p:nvSpPr>
          <p:cNvPr id="11" name="TextBox 10"/>
          <p:cNvSpPr txBox="1"/>
          <p:nvPr/>
        </p:nvSpPr>
        <p:spPr>
          <a:xfrm>
            <a:off x="457200" y="3657600"/>
            <a:ext cx="10972800" cy="365760"/>
          </a:xfrm>
          <a:prstGeom prst="rect">
            <a:avLst/>
          </a:prstGeom>
          <a:noFill/>
        </p:spPr>
        <p:txBody>
          <a:bodyPr wrap="square">
            <a:spAutoFit/>
          </a:bodyPr>
          <a:lstStyle/>
          <a:p>
            <a:pPr algn="l">
              <a:defRPr sz="1600" b="1">
                <a:solidFill>
                  <a:srgbClr val="003366"/>
                </a:solidFill>
              </a:defRPr>
            </a:pPr>
            <a:r>
              <a:t>Karakteristik Hal Pokok yang Sesuai:</a:t>
            </a:r>
          </a:p>
        </p:txBody>
      </p:sp>
      <p:sp>
        <p:nvSpPr>
          <p:cNvPr id="12" name="Rounded Rectangle 11"/>
          <p:cNvSpPr/>
          <p:nvPr/>
        </p:nvSpPr>
        <p:spPr>
          <a:xfrm>
            <a:off x="457200" y="4114800"/>
            <a:ext cx="3566160" cy="118872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206240"/>
            <a:ext cx="3291840" cy="320040"/>
          </a:xfrm>
          <a:prstGeom prst="rect">
            <a:avLst/>
          </a:prstGeom>
          <a:noFill/>
        </p:spPr>
        <p:txBody>
          <a:bodyPr wrap="square">
            <a:spAutoFit/>
          </a:bodyPr>
          <a:lstStyle/>
          <a:p>
            <a:pPr algn="ctr">
              <a:defRPr sz="1300" b="1">
                <a:solidFill>
                  <a:srgbClr val="003366"/>
                </a:solidFill>
              </a:defRPr>
            </a:pPr>
            <a:r>
              <a:t>Dapat Diidentifikasi</a:t>
            </a:r>
          </a:p>
        </p:txBody>
      </p:sp>
      <p:sp>
        <p:nvSpPr>
          <p:cNvPr id="14" name="TextBox 13"/>
          <p:cNvSpPr txBox="1"/>
          <p:nvPr/>
        </p:nvSpPr>
        <p:spPr>
          <a:xfrm>
            <a:off x="594360" y="4572000"/>
            <a:ext cx="3291840" cy="640080"/>
          </a:xfrm>
          <a:prstGeom prst="rect">
            <a:avLst/>
          </a:prstGeom>
          <a:noFill/>
        </p:spPr>
        <p:txBody>
          <a:bodyPr wrap="square">
            <a:spAutoFit/>
          </a:bodyPr>
          <a:lstStyle/>
          <a:p>
            <a:pPr algn="ctr">
              <a:defRPr sz="1100" b="0">
                <a:solidFill>
                  <a:srgbClr val="404040"/>
                </a:solidFill>
              </a:defRPr>
            </a:pPr>
            <a:r>
              <a:t>Hal pokok harus dapat diidentifikasi secara jelas</a:t>
            </a:r>
          </a:p>
        </p:txBody>
      </p:sp>
      <p:sp>
        <p:nvSpPr>
          <p:cNvPr id="15" name="Rounded Rectangle 14"/>
          <p:cNvSpPr/>
          <p:nvPr/>
        </p:nvSpPr>
        <p:spPr>
          <a:xfrm>
            <a:off x="4297680" y="4114800"/>
            <a:ext cx="3566160" cy="118872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4206240"/>
            <a:ext cx="3291840" cy="320040"/>
          </a:xfrm>
          <a:prstGeom prst="rect">
            <a:avLst/>
          </a:prstGeom>
          <a:noFill/>
        </p:spPr>
        <p:txBody>
          <a:bodyPr wrap="square">
            <a:spAutoFit/>
          </a:bodyPr>
          <a:lstStyle/>
          <a:p>
            <a:pPr algn="ctr">
              <a:defRPr sz="1300" b="1">
                <a:solidFill>
                  <a:srgbClr val="003366"/>
                </a:solidFill>
              </a:defRPr>
            </a:pPr>
            <a:r>
              <a:t>Dapat Diukur/Dievaluasi</a:t>
            </a:r>
          </a:p>
        </p:txBody>
      </p:sp>
      <p:sp>
        <p:nvSpPr>
          <p:cNvPr id="17" name="TextBox 16"/>
          <p:cNvSpPr txBox="1"/>
          <p:nvPr/>
        </p:nvSpPr>
        <p:spPr>
          <a:xfrm>
            <a:off x="4434840" y="4572000"/>
            <a:ext cx="3291840" cy="640080"/>
          </a:xfrm>
          <a:prstGeom prst="rect">
            <a:avLst/>
          </a:prstGeom>
          <a:noFill/>
        </p:spPr>
        <p:txBody>
          <a:bodyPr wrap="square">
            <a:spAutoFit/>
          </a:bodyPr>
          <a:lstStyle/>
          <a:p>
            <a:pPr algn="ctr">
              <a:defRPr sz="1100" b="0">
                <a:solidFill>
                  <a:srgbClr val="404040"/>
                </a:solidFill>
              </a:defRPr>
            </a:pPr>
            <a:r>
              <a:t>Terhadap kriteria yang diterapkan secara konsisten</a:t>
            </a:r>
          </a:p>
        </p:txBody>
      </p:sp>
      <p:sp>
        <p:nvSpPr>
          <p:cNvPr id="18" name="Rounded Rectangle 17"/>
          <p:cNvSpPr/>
          <p:nvPr/>
        </p:nvSpPr>
        <p:spPr>
          <a:xfrm>
            <a:off x="8138160" y="4114800"/>
            <a:ext cx="3566160" cy="118872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206240"/>
            <a:ext cx="3291840" cy="320040"/>
          </a:xfrm>
          <a:prstGeom prst="rect">
            <a:avLst/>
          </a:prstGeom>
          <a:noFill/>
        </p:spPr>
        <p:txBody>
          <a:bodyPr wrap="square">
            <a:spAutoFit/>
          </a:bodyPr>
          <a:lstStyle/>
          <a:p>
            <a:pPr algn="ctr">
              <a:defRPr sz="1300" b="1">
                <a:solidFill>
                  <a:srgbClr val="003366"/>
                </a:solidFill>
              </a:defRPr>
            </a:pPr>
            <a:r>
              <a:t>Bukti Tersedia</a:t>
            </a:r>
          </a:p>
        </p:txBody>
      </p:sp>
      <p:sp>
        <p:nvSpPr>
          <p:cNvPr id="20" name="TextBox 19"/>
          <p:cNvSpPr txBox="1"/>
          <p:nvPr/>
        </p:nvSpPr>
        <p:spPr>
          <a:xfrm>
            <a:off x="8275320" y="4572000"/>
            <a:ext cx="3291840" cy="640080"/>
          </a:xfrm>
          <a:prstGeom prst="rect">
            <a:avLst/>
          </a:prstGeom>
          <a:noFill/>
        </p:spPr>
        <p:txBody>
          <a:bodyPr wrap="square">
            <a:spAutoFit/>
          </a:bodyPr>
          <a:lstStyle/>
          <a:p>
            <a:pPr algn="ctr">
              <a:defRPr sz="1100" b="0">
                <a:solidFill>
                  <a:srgbClr val="404040"/>
                </a:solidFill>
              </a:defRPr>
            </a:pPr>
            <a:r>
              <a:t>Dapat dikumpulkan untuk mendukung kesimpulan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ELEMEN 3: KRITERIA YANG SESUAI</a:t>
            </a:r>
          </a:p>
        </p:txBody>
      </p:sp>
      <p:sp>
        <p:nvSpPr>
          <p:cNvPr id="4" name="TextBox 3"/>
          <p:cNvSpPr txBox="1"/>
          <p:nvPr/>
        </p:nvSpPr>
        <p:spPr>
          <a:xfrm>
            <a:off x="457200" y="1234440"/>
            <a:ext cx="10972800" cy="548640"/>
          </a:xfrm>
          <a:prstGeom prst="rect">
            <a:avLst/>
          </a:prstGeom>
          <a:noFill/>
        </p:spPr>
        <p:txBody>
          <a:bodyPr wrap="square">
            <a:spAutoFit/>
          </a:bodyPr>
          <a:lstStyle/>
          <a:p>
            <a:pPr algn="l">
              <a:defRPr sz="1400" b="0">
                <a:solidFill>
                  <a:srgbClr val="404040"/>
                </a:solidFill>
              </a:defRPr>
            </a:pPr>
            <a:r>
              <a:t>Kriteria adalah tolok ukur yang digunakan untuk mengevaluasi atau mengukur hal pokok yang mendasari, termasuk tolok ukur untuk penyajian dan pengungkapan.</a:t>
            </a:r>
          </a:p>
        </p:txBody>
      </p:sp>
      <p:sp>
        <p:nvSpPr>
          <p:cNvPr id="5" name="TextBox 4"/>
          <p:cNvSpPr txBox="1"/>
          <p:nvPr/>
        </p:nvSpPr>
        <p:spPr>
          <a:xfrm>
            <a:off x="457200" y="1920240"/>
            <a:ext cx="10972800" cy="365760"/>
          </a:xfrm>
          <a:prstGeom prst="rect">
            <a:avLst/>
          </a:prstGeom>
          <a:noFill/>
        </p:spPr>
        <p:txBody>
          <a:bodyPr wrap="square">
            <a:spAutoFit/>
          </a:bodyPr>
          <a:lstStyle/>
          <a:p>
            <a:pPr algn="l">
              <a:defRPr sz="1600" b="1">
                <a:solidFill>
                  <a:srgbClr val="003366"/>
                </a:solidFill>
              </a:defRPr>
            </a:pPr>
            <a:r>
              <a:t>Karakteristik Kriteria yang Sesuai:</a:t>
            </a:r>
          </a:p>
        </p:txBody>
      </p:sp>
      <p:sp>
        <p:nvSpPr>
          <p:cNvPr id="6" name="Oval 5"/>
          <p:cNvSpPr/>
          <p:nvPr/>
        </p:nvSpPr>
        <p:spPr>
          <a:xfrm>
            <a:off x="457200" y="2331720"/>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41448"/>
            <a:ext cx="502920" cy="320040"/>
          </a:xfrm>
          <a:prstGeom prst="rect">
            <a:avLst/>
          </a:prstGeom>
          <a:noFill/>
        </p:spPr>
        <p:txBody>
          <a:bodyPr wrap="square">
            <a:spAutoFit/>
          </a:bodyPr>
          <a:lstStyle/>
          <a:p>
            <a:pPr algn="ctr">
              <a:defRPr sz="1800" b="1">
                <a:solidFill>
                  <a:srgbClr val="FFFFFF"/>
                </a:solidFill>
              </a:defRPr>
            </a:pPr>
            <a:r>
              <a:t>R</a:t>
            </a:r>
          </a:p>
        </p:txBody>
      </p:sp>
      <p:sp>
        <p:nvSpPr>
          <p:cNvPr id="8" name="Rounded Rectangle 7"/>
          <p:cNvSpPr/>
          <p:nvPr/>
        </p:nvSpPr>
        <p:spPr>
          <a:xfrm>
            <a:off x="1097280" y="2331720"/>
            <a:ext cx="10607040" cy="77724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2404872"/>
            <a:ext cx="1828800" cy="274320"/>
          </a:xfrm>
          <a:prstGeom prst="rect">
            <a:avLst/>
          </a:prstGeom>
          <a:noFill/>
        </p:spPr>
        <p:txBody>
          <a:bodyPr wrap="square">
            <a:spAutoFit/>
          </a:bodyPr>
          <a:lstStyle/>
          <a:p>
            <a:pPr algn="l">
              <a:defRPr sz="1300" b="1">
                <a:solidFill>
                  <a:srgbClr val="003366"/>
                </a:solidFill>
              </a:defRPr>
            </a:pPr>
            <a:r>
              <a:t>RELEVAN</a:t>
            </a:r>
          </a:p>
        </p:txBody>
      </p:sp>
      <p:sp>
        <p:nvSpPr>
          <p:cNvPr id="10" name="TextBox 9"/>
          <p:cNvSpPr txBox="1"/>
          <p:nvPr/>
        </p:nvSpPr>
        <p:spPr>
          <a:xfrm>
            <a:off x="3200400" y="2560320"/>
            <a:ext cx="8229600" cy="365760"/>
          </a:xfrm>
          <a:prstGeom prst="rect">
            <a:avLst/>
          </a:prstGeom>
          <a:noFill/>
        </p:spPr>
        <p:txBody>
          <a:bodyPr wrap="square">
            <a:spAutoFit/>
          </a:bodyPr>
          <a:lstStyle/>
          <a:p>
            <a:pPr algn="l">
              <a:defRPr sz="1100" b="0">
                <a:solidFill>
                  <a:srgbClr val="404040"/>
                </a:solidFill>
              </a:defRPr>
            </a:pPr>
            <a:r>
              <a:t>Berkontribusi pada kesimpulan yang membantu pengambilan keputusan pengguna</a:t>
            </a:r>
          </a:p>
        </p:txBody>
      </p:sp>
      <p:sp>
        <p:nvSpPr>
          <p:cNvPr id="11" name="Oval 10"/>
          <p:cNvSpPr/>
          <p:nvPr/>
        </p:nvSpPr>
        <p:spPr>
          <a:xfrm>
            <a:off x="457200" y="3200400"/>
            <a:ext cx="502920" cy="50292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10128"/>
            <a:ext cx="502920" cy="320040"/>
          </a:xfrm>
          <a:prstGeom prst="rect">
            <a:avLst/>
          </a:prstGeom>
          <a:noFill/>
        </p:spPr>
        <p:txBody>
          <a:bodyPr wrap="square">
            <a:spAutoFit/>
          </a:bodyPr>
          <a:lstStyle/>
          <a:p>
            <a:pPr algn="ctr">
              <a:defRPr sz="1800" b="1">
                <a:solidFill>
                  <a:srgbClr val="FFFFFF"/>
                </a:solidFill>
              </a:defRPr>
            </a:pPr>
            <a:r>
              <a:t>L</a:t>
            </a:r>
          </a:p>
        </p:txBody>
      </p:sp>
      <p:sp>
        <p:nvSpPr>
          <p:cNvPr id="13" name="Rounded Rectangle 12"/>
          <p:cNvSpPr/>
          <p:nvPr/>
        </p:nvSpPr>
        <p:spPr>
          <a:xfrm>
            <a:off x="1097280" y="3200400"/>
            <a:ext cx="10607040" cy="77724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3273552"/>
            <a:ext cx="1828800" cy="274320"/>
          </a:xfrm>
          <a:prstGeom prst="rect">
            <a:avLst/>
          </a:prstGeom>
          <a:noFill/>
        </p:spPr>
        <p:txBody>
          <a:bodyPr wrap="square">
            <a:spAutoFit/>
          </a:bodyPr>
          <a:lstStyle/>
          <a:p>
            <a:pPr algn="l">
              <a:defRPr sz="1300" b="1">
                <a:solidFill>
                  <a:srgbClr val="8E44AD"/>
                </a:solidFill>
              </a:defRPr>
            </a:pPr>
            <a:r>
              <a:t>LENGKAP</a:t>
            </a:r>
          </a:p>
        </p:txBody>
      </p:sp>
      <p:sp>
        <p:nvSpPr>
          <p:cNvPr id="15" name="TextBox 14"/>
          <p:cNvSpPr txBox="1"/>
          <p:nvPr/>
        </p:nvSpPr>
        <p:spPr>
          <a:xfrm>
            <a:off x="3200400" y="3429000"/>
            <a:ext cx="8229600" cy="365760"/>
          </a:xfrm>
          <a:prstGeom prst="rect">
            <a:avLst/>
          </a:prstGeom>
          <a:noFill/>
        </p:spPr>
        <p:txBody>
          <a:bodyPr wrap="square">
            <a:spAutoFit/>
          </a:bodyPr>
          <a:lstStyle/>
          <a:p>
            <a:pPr algn="l">
              <a:defRPr sz="1100" b="0">
                <a:solidFill>
                  <a:srgbClr val="404040"/>
                </a:solidFill>
              </a:defRPr>
            </a:pPr>
            <a:r>
              <a:t>Tidak ada faktor relevan yang dihilangkan yang dapat mempengaruhi kesimpulan</a:t>
            </a:r>
          </a:p>
        </p:txBody>
      </p:sp>
      <p:sp>
        <p:nvSpPr>
          <p:cNvPr id="16" name="Oval 15"/>
          <p:cNvSpPr/>
          <p:nvPr/>
        </p:nvSpPr>
        <p:spPr>
          <a:xfrm>
            <a:off x="457200" y="4069079"/>
            <a:ext cx="502920" cy="50292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7"/>
            <a:ext cx="502920" cy="320040"/>
          </a:xfrm>
          <a:prstGeom prst="rect">
            <a:avLst/>
          </a:prstGeom>
          <a:noFill/>
        </p:spPr>
        <p:txBody>
          <a:bodyPr wrap="square">
            <a:spAutoFit/>
          </a:bodyPr>
          <a:lstStyle/>
          <a:p>
            <a:pPr algn="ctr">
              <a:defRPr sz="1800" b="1">
                <a:solidFill>
                  <a:srgbClr val="FFFFFF"/>
                </a:solidFill>
              </a:defRPr>
            </a:pPr>
            <a:r>
              <a:t>A</a:t>
            </a:r>
          </a:p>
        </p:txBody>
      </p:sp>
      <p:sp>
        <p:nvSpPr>
          <p:cNvPr id="18" name="Rounded Rectangle 17"/>
          <p:cNvSpPr/>
          <p:nvPr/>
        </p:nvSpPr>
        <p:spPr>
          <a:xfrm>
            <a:off x="1097280" y="4069079"/>
            <a:ext cx="10607040" cy="77724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4142231"/>
            <a:ext cx="1828800" cy="274320"/>
          </a:xfrm>
          <a:prstGeom prst="rect">
            <a:avLst/>
          </a:prstGeom>
          <a:noFill/>
        </p:spPr>
        <p:txBody>
          <a:bodyPr wrap="square">
            <a:spAutoFit/>
          </a:bodyPr>
          <a:lstStyle/>
          <a:p>
            <a:pPr algn="l">
              <a:defRPr sz="1300" b="1">
                <a:solidFill>
                  <a:srgbClr val="27AE60"/>
                </a:solidFill>
              </a:defRPr>
            </a:pPr>
            <a:r>
              <a:t>ANDAL</a:t>
            </a:r>
          </a:p>
        </p:txBody>
      </p:sp>
      <p:sp>
        <p:nvSpPr>
          <p:cNvPr id="20" name="TextBox 19"/>
          <p:cNvSpPr txBox="1"/>
          <p:nvPr/>
        </p:nvSpPr>
        <p:spPr>
          <a:xfrm>
            <a:off x="3200400" y="4297679"/>
            <a:ext cx="8229600" cy="365760"/>
          </a:xfrm>
          <a:prstGeom prst="rect">
            <a:avLst/>
          </a:prstGeom>
          <a:noFill/>
        </p:spPr>
        <p:txBody>
          <a:bodyPr wrap="square">
            <a:spAutoFit/>
          </a:bodyPr>
          <a:lstStyle/>
          <a:p>
            <a:pPr algn="l">
              <a:defRPr sz="1100" b="0">
                <a:solidFill>
                  <a:srgbClr val="404040"/>
                </a:solidFill>
              </a:defRPr>
            </a:pPr>
            <a:r>
              <a:t>Memungkinkan pengukuran/evaluasi yang konsisten oleh praktisi berbeda</a:t>
            </a:r>
          </a:p>
        </p:txBody>
      </p:sp>
      <p:sp>
        <p:nvSpPr>
          <p:cNvPr id="21" name="Oval 20"/>
          <p:cNvSpPr/>
          <p:nvPr/>
        </p:nvSpPr>
        <p:spPr>
          <a:xfrm>
            <a:off x="457200" y="4937759"/>
            <a:ext cx="502920" cy="50292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047488"/>
            <a:ext cx="502920" cy="320040"/>
          </a:xfrm>
          <a:prstGeom prst="rect">
            <a:avLst/>
          </a:prstGeom>
          <a:noFill/>
        </p:spPr>
        <p:txBody>
          <a:bodyPr wrap="square">
            <a:spAutoFit/>
          </a:bodyPr>
          <a:lstStyle/>
          <a:p>
            <a:pPr algn="ctr">
              <a:defRPr sz="1800" b="1">
                <a:solidFill>
                  <a:srgbClr val="FFFFFF"/>
                </a:solidFill>
              </a:defRPr>
            </a:pPr>
            <a:r>
              <a:t>N</a:t>
            </a:r>
          </a:p>
        </p:txBody>
      </p:sp>
      <p:sp>
        <p:nvSpPr>
          <p:cNvPr id="23" name="Rounded Rectangle 22"/>
          <p:cNvSpPr/>
          <p:nvPr/>
        </p:nvSpPr>
        <p:spPr>
          <a:xfrm>
            <a:off x="1097280" y="4937759"/>
            <a:ext cx="10607040" cy="77724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5010912"/>
            <a:ext cx="1828800" cy="274320"/>
          </a:xfrm>
          <a:prstGeom prst="rect">
            <a:avLst/>
          </a:prstGeom>
          <a:noFill/>
        </p:spPr>
        <p:txBody>
          <a:bodyPr wrap="square">
            <a:spAutoFit/>
          </a:bodyPr>
          <a:lstStyle/>
          <a:p>
            <a:pPr algn="l">
              <a:defRPr sz="1300" b="1">
                <a:solidFill>
                  <a:srgbClr val="E67E22"/>
                </a:solidFill>
              </a:defRPr>
            </a:pPr>
            <a:r>
              <a:t>NETRAL</a:t>
            </a:r>
          </a:p>
        </p:txBody>
      </p:sp>
      <p:sp>
        <p:nvSpPr>
          <p:cNvPr id="25" name="TextBox 24"/>
          <p:cNvSpPr txBox="1"/>
          <p:nvPr/>
        </p:nvSpPr>
        <p:spPr>
          <a:xfrm>
            <a:off x="3200400" y="5166359"/>
            <a:ext cx="8229600" cy="365760"/>
          </a:xfrm>
          <a:prstGeom prst="rect">
            <a:avLst/>
          </a:prstGeom>
          <a:noFill/>
        </p:spPr>
        <p:txBody>
          <a:bodyPr wrap="square">
            <a:spAutoFit/>
          </a:bodyPr>
          <a:lstStyle/>
          <a:p>
            <a:pPr algn="l">
              <a:defRPr sz="1100" b="0">
                <a:solidFill>
                  <a:srgbClr val="404040"/>
                </a:solidFill>
              </a:defRPr>
            </a:pPr>
            <a:r>
              <a:t>Bebas dari bias dan menghasilkan kesimpulan yang tidak bias</a:t>
            </a:r>
          </a:p>
        </p:txBody>
      </p:sp>
      <p:sp>
        <p:nvSpPr>
          <p:cNvPr id="26" name="Oval 25"/>
          <p:cNvSpPr/>
          <p:nvPr/>
        </p:nvSpPr>
        <p:spPr>
          <a:xfrm>
            <a:off x="457200" y="5806440"/>
            <a:ext cx="502920" cy="50292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916168"/>
            <a:ext cx="502920" cy="320040"/>
          </a:xfrm>
          <a:prstGeom prst="rect">
            <a:avLst/>
          </a:prstGeom>
          <a:noFill/>
        </p:spPr>
        <p:txBody>
          <a:bodyPr wrap="square">
            <a:spAutoFit/>
          </a:bodyPr>
          <a:lstStyle/>
          <a:p>
            <a:pPr algn="ctr">
              <a:defRPr sz="1800" b="1">
                <a:solidFill>
                  <a:srgbClr val="FFFFFF"/>
                </a:solidFill>
              </a:defRPr>
            </a:pPr>
            <a:r>
              <a:t>D</a:t>
            </a:r>
          </a:p>
        </p:txBody>
      </p:sp>
      <p:sp>
        <p:nvSpPr>
          <p:cNvPr id="28" name="Rounded Rectangle 27"/>
          <p:cNvSpPr/>
          <p:nvPr/>
        </p:nvSpPr>
        <p:spPr>
          <a:xfrm>
            <a:off x="1097280" y="5806440"/>
            <a:ext cx="10607040" cy="77724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5879592"/>
            <a:ext cx="1828800" cy="274320"/>
          </a:xfrm>
          <a:prstGeom prst="rect">
            <a:avLst/>
          </a:prstGeom>
          <a:noFill/>
        </p:spPr>
        <p:txBody>
          <a:bodyPr wrap="square">
            <a:spAutoFit/>
          </a:bodyPr>
          <a:lstStyle/>
          <a:p>
            <a:pPr algn="l">
              <a:defRPr sz="1300" b="1">
                <a:solidFill>
                  <a:srgbClr val="E74C3C"/>
                </a:solidFill>
              </a:defRPr>
            </a:pPr>
            <a:r>
              <a:t>DAPAT DIPAHAMI</a:t>
            </a:r>
          </a:p>
        </p:txBody>
      </p:sp>
      <p:sp>
        <p:nvSpPr>
          <p:cNvPr id="30" name="TextBox 29"/>
          <p:cNvSpPr txBox="1"/>
          <p:nvPr/>
        </p:nvSpPr>
        <p:spPr>
          <a:xfrm>
            <a:off x="3200400" y="6035040"/>
            <a:ext cx="8229600" cy="365760"/>
          </a:xfrm>
          <a:prstGeom prst="rect">
            <a:avLst/>
          </a:prstGeom>
          <a:noFill/>
        </p:spPr>
        <p:txBody>
          <a:bodyPr wrap="square">
            <a:spAutoFit/>
          </a:bodyPr>
          <a:lstStyle/>
          <a:p>
            <a:pPr algn="l">
              <a:defRPr sz="1100" b="0">
                <a:solidFill>
                  <a:srgbClr val="404040"/>
                </a:solidFill>
              </a:defRPr>
            </a:pPr>
            <a:r>
              <a:t>Dapat dipahami oleh pengguna yang dituju</a:t>
            </a:r>
          </a:p>
        </p:txBody>
      </p:sp>
      <p:sp>
        <p:nvSpPr>
          <p:cNvPr id="31" name="Rounded Rectangle 30"/>
          <p:cNvSpPr/>
          <p:nvPr/>
        </p:nvSpPr>
        <p:spPr>
          <a:xfrm>
            <a:off x="457200" y="5532120"/>
            <a:ext cx="11277295" cy="1005840"/>
          </a:xfrm>
          <a:prstGeom prst="roundRect">
            <a:avLst/>
          </a:prstGeom>
          <a:solidFill>
            <a:srgbClr val="E6F3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623560"/>
            <a:ext cx="1828800" cy="274320"/>
          </a:xfrm>
          <a:prstGeom prst="rect">
            <a:avLst/>
          </a:prstGeom>
          <a:noFill/>
        </p:spPr>
        <p:txBody>
          <a:bodyPr wrap="square">
            <a:spAutoFit/>
          </a:bodyPr>
          <a:lstStyle/>
          <a:p>
            <a:pPr algn="l">
              <a:defRPr sz="1200" b="1">
                <a:solidFill>
                  <a:srgbClr val="003366"/>
                </a:solidFill>
              </a:defRPr>
            </a:pPr>
            <a:r>
              <a:t>Contoh Kriteria:</a:t>
            </a:r>
          </a:p>
        </p:txBody>
      </p:sp>
      <p:sp>
        <p:nvSpPr>
          <p:cNvPr id="33" name="TextBox 32"/>
          <p:cNvSpPr txBox="1"/>
          <p:nvPr/>
        </p:nvSpPr>
        <p:spPr>
          <a:xfrm>
            <a:off x="640080" y="5897880"/>
            <a:ext cx="10881360" cy="457200"/>
          </a:xfrm>
          <a:prstGeom prst="rect">
            <a:avLst/>
          </a:prstGeom>
          <a:noFill/>
        </p:spPr>
        <p:txBody>
          <a:bodyPr wrap="square">
            <a:spAutoFit/>
          </a:bodyPr>
          <a:lstStyle/>
          <a:p>
            <a:pPr algn="l">
              <a:defRPr sz="1100" b="0">
                <a:solidFill>
                  <a:srgbClr val="404040"/>
                </a:solidFill>
              </a:defRPr>
            </a:pPr>
            <a:r>
              <a:t>SAK (Standar Akuntansi Keuangan), IFRS, PSAK, Peraturan Perundang-undangan, Standar Industri, Framework GRI untuk sustainability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ELEMEN 4: BUKTI YANG CUKUP DAN TEPAT</a:t>
            </a:r>
          </a:p>
        </p:txBody>
      </p:sp>
      <p:sp>
        <p:nvSpPr>
          <p:cNvPr id="4" name="TextBox 3"/>
          <p:cNvSpPr txBox="1"/>
          <p:nvPr/>
        </p:nvSpPr>
        <p:spPr>
          <a:xfrm>
            <a:off x="457200" y="1234440"/>
            <a:ext cx="10972800" cy="457200"/>
          </a:xfrm>
          <a:prstGeom prst="rect">
            <a:avLst/>
          </a:prstGeom>
          <a:noFill/>
        </p:spPr>
        <p:txBody>
          <a:bodyPr wrap="square">
            <a:spAutoFit/>
          </a:bodyPr>
          <a:lstStyle/>
          <a:p>
            <a:pPr algn="l">
              <a:defRPr sz="1400" b="0">
                <a:solidFill>
                  <a:srgbClr val="404040"/>
                </a:solidFill>
              </a:defRPr>
            </a:pPr>
            <a:r>
              <a:t>Bukti adalah informasi yang digunakan praktisi untuk menyatakan kesimpulan. Bukti harus memenuhi dua syarat:</a:t>
            </a:r>
          </a:p>
        </p:txBody>
      </p:sp>
      <p:sp>
        <p:nvSpPr>
          <p:cNvPr id="5" name="Rounded Rectangle 4"/>
          <p:cNvSpPr/>
          <p:nvPr/>
        </p:nvSpPr>
        <p:spPr>
          <a:xfrm>
            <a:off x="457200" y="1828800"/>
            <a:ext cx="5486400" cy="2011680"/>
          </a:xfrm>
          <a:prstGeom prst="roundRect">
            <a:avLst/>
          </a:prstGeom>
          <a:solidFill>
            <a:srgbClr val="FFFFFF"/>
          </a:solidFill>
          <a:ln w="381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0" y="1965960"/>
            <a:ext cx="640080" cy="64008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2103120"/>
            <a:ext cx="640080" cy="365760"/>
          </a:xfrm>
          <a:prstGeom prst="rect">
            <a:avLst/>
          </a:prstGeom>
          <a:noFill/>
        </p:spPr>
        <p:txBody>
          <a:bodyPr wrap="square">
            <a:spAutoFit/>
          </a:bodyPr>
          <a:lstStyle/>
          <a:p>
            <a:pPr algn="ctr">
              <a:defRPr sz="2200" b="1">
                <a:solidFill>
                  <a:srgbClr val="FFFFFF"/>
                </a:solidFill>
              </a:defRPr>
            </a:pPr>
            <a:r>
              <a:t>C</a:t>
            </a:r>
          </a:p>
        </p:txBody>
      </p:sp>
      <p:sp>
        <p:nvSpPr>
          <p:cNvPr id="8" name="TextBox 7"/>
          <p:cNvSpPr txBox="1"/>
          <p:nvPr/>
        </p:nvSpPr>
        <p:spPr>
          <a:xfrm>
            <a:off x="640080" y="2697480"/>
            <a:ext cx="5120640" cy="320040"/>
          </a:xfrm>
          <a:prstGeom prst="rect">
            <a:avLst/>
          </a:prstGeom>
          <a:noFill/>
        </p:spPr>
        <p:txBody>
          <a:bodyPr wrap="square">
            <a:spAutoFit/>
          </a:bodyPr>
          <a:lstStyle/>
          <a:p>
            <a:pPr algn="ctr">
              <a:defRPr sz="1600" b="1">
                <a:solidFill>
                  <a:srgbClr val="27AE60"/>
                </a:solidFill>
              </a:defRPr>
            </a:pPr>
            <a:r>
              <a:t>CUKUP (Kuantitas)</a:t>
            </a:r>
          </a:p>
        </p:txBody>
      </p:sp>
      <p:sp>
        <p:nvSpPr>
          <p:cNvPr id="9" name="TextBox 8"/>
          <p:cNvSpPr txBox="1"/>
          <p:nvPr/>
        </p:nvSpPr>
        <p:spPr>
          <a:xfrm>
            <a:off x="640080" y="3063240"/>
            <a:ext cx="5120640" cy="731520"/>
          </a:xfrm>
          <a:prstGeom prst="rect">
            <a:avLst/>
          </a:prstGeom>
          <a:noFill/>
        </p:spPr>
        <p:txBody>
          <a:bodyPr wrap="square">
            <a:spAutoFit/>
          </a:bodyPr>
          <a:lstStyle/>
          <a:p>
            <a:pPr algn="l">
              <a:defRPr sz="1200" b="0">
                <a:solidFill>
                  <a:srgbClr val="404040"/>
                </a:solidFill>
              </a:defRPr>
            </a:pPr>
            <a:r>
              <a:t>Mengacu pada kuantitas bukti. Jumlah bukti yang diperlukan dipengaruhi oleh:</a:t>
            </a:r>
            <a:br/>
            <a:br/>
            <a:r>
              <a:t>  Risiko kesalahan penyajian material</a:t>
            </a:r>
            <a:br/>
            <a:r>
              <a:t>  Kualitas/mutu bukti individual</a:t>
            </a:r>
          </a:p>
        </p:txBody>
      </p:sp>
      <p:sp>
        <p:nvSpPr>
          <p:cNvPr id="10" name="Rounded Rectangle 9"/>
          <p:cNvSpPr/>
          <p:nvPr/>
        </p:nvSpPr>
        <p:spPr>
          <a:xfrm>
            <a:off x="6248095" y="1828800"/>
            <a:ext cx="5486400" cy="2011680"/>
          </a:xfrm>
          <a:prstGeom prst="roundRect">
            <a:avLst/>
          </a:prstGeom>
          <a:solidFill>
            <a:srgbClr val="FFFFFF"/>
          </a:solidFill>
          <a:ln w="381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34095" y="1965960"/>
            <a:ext cx="640080" cy="64008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34095" y="2103120"/>
            <a:ext cx="640080" cy="365760"/>
          </a:xfrm>
          <a:prstGeom prst="rect">
            <a:avLst/>
          </a:prstGeom>
          <a:noFill/>
        </p:spPr>
        <p:txBody>
          <a:bodyPr wrap="square">
            <a:spAutoFit/>
          </a:bodyPr>
          <a:lstStyle/>
          <a:p>
            <a:pPr algn="ctr">
              <a:defRPr sz="2200" b="1">
                <a:solidFill>
                  <a:srgbClr val="FFFFFF"/>
                </a:solidFill>
              </a:defRPr>
            </a:pPr>
            <a:r>
              <a:t>T</a:t>
            </a:r>
          </a:p>
        </p:txBody>
      </p:sp>
      <p:sp>
        <p:nvSpPr>
          <p:cNvPr id="13" name="TextBox 12"/>
          <p:cNvSpPr txBox="1"/>
          <p:nvPr/>
        </p:nvSpPr>
        <p:spPr>
          <a:xfrm>
            <a:off x="6430975" y="2697480"/>
            <a:ext cx="5120640" cy="320040"/>
          </a:xfrm>
          <a:prstGeom prst="rect">
            <a:avLst/>
          </a:prstGeom>
          <a:noFill/>
        </p:spPr>
        <p:txBody>
          <a:bodyPr wrap="square">
            <a:spAutoFit/>
          </a:bodyPr>
          <a:lstStyle/>
          <a:p>
            <a:pPr algn="ctr">
              <a:defRPr sz="1600" b="1">
                <a:solidFill>
                  <a:srgbClr val="E67E22"/>
                </a:solidFill>
              </a:defRPr>
            </a:pPr>
            <a:r>
              <a:t>TEPAT (Kualitas)</a:t>
            </a:r>
          </a:p>
        </p:txBody>
      </p:sp>
      <p:sp>
        <p:nvSpPr>
          <p:cNvPr id="14" name="TextBox 13"/>
          <p:cNvSpPr txBox="1"/>
          <p:nvPr/>
        </p:nvSpPr>
        <p:spPr>
          <a:xfrm>
            <a:off x="6430975" y="3063240"/>
            <a:ext cx="5120640" cy="731520"/>
          </a:xfrm>
          <a:prstGeom prst="rect">
            <a:avLst/>
          </a:prstGeom>
          <a:noFill/>
        </p:spPr>
        <p:txBody>
          <a:bodyPr wrap="square">
            <a:spAutoFit/>
          </a:bodyPr>
          <a:lstStyle/>
          <a:p>
            <a:pPr algn="l">
              <a:defRPr sz="1200" b="0">
                <a:solidFill>
                  <a:srgbClr val="404040"/>
                </a:solidFill>
              </a:defRPr>
            </a:pPr>
            <a:r>
              <a:t>Mengacu pada kualitas bukti, yaitu:</a:t>
            </a:r>
            <a:br/>
            <a:br/>
            <a:r>
              <a:t>  Relevansi - berkaitan dengan asersi yang diuji</a:t>
            </a:r>
            <a:br/>
            <a:r>
              <a:t>  Keandalan - dapat dipercaya/diandalkan</a:t>
            </a:r>
          </a:p>
        </p:txBody>
      </p:sp>
      <p:sp>
        <p:nvSpPr>
          <p:cNvPr id="15" name="TextBox 14"/>
          <p:cNvSpPr txBox="1"/>
          <p:nvPr/>
        </p:nvSpPr>
        <p:spPr>
          <a:xfrm>
            <a:off x="457200" y="4023360"/>
            <a:ext cx="10972800" cy="365760"/>
          </a:xfrm>
          <a:prstGeom prst="rect">
            <a:avLst/>
          </a:prstGeom>
          <a:noFill/>
        </p:spPr>
        <p:txBody>
          <a:bodyPr wrap="square">
            <a:spAutoFit/>
          </a:bodyPr>
          <a:lstStyle/>
          <a:p>
            <a:pPr algn="l">
              <a:defRPr sz="1600" b="1">
                <a:solidFill>
                  <a:srgbClr val="003366"/>
                </a:solidFill>
              </a:defRPr>
            </a:pPr>
            <a:r>
              <a:t>Sumber Bukti dan Hierarkinya:</a:t>
            </a:r>
          </a:p>
        </p:txBody>
      </p:sp>
      <p:sp>
        <p:nvSpPr>
          <p:cNvPr id="16" name="Rounded Rectangle 15"/>
          <p:cNvSpPr/>
          <p:nvPr/>
        </p:nvSpPr>
        <p:spPr>
          <a:xfrm>
            <a:off x="457200" y="4480560"/>
            <a:ext cx="3566160" cy="137160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572000"/>
            <a:ext cx="3291840" cy="320040"/>
          </a:xfrm>
          <a:prstGeom prst="rect">
            <a:avLst/>
          </a:prstGeom>
          <a:noFill/>
        </p:spPr>
        <p:txBody>
          <a:bodyPr wrap="square">
            <a:spAutoFit/>
          </a:bodyPr>
          <a:lstStyle/>
          <a:p>
            <a:pPr algn="ctr">
              <a:defRPr sz="1300" b="1">
                <a:solidFill>
                  <a:srgbClr val="003366"/>
                </a:solidFill>
              </a:defRPr>
            </a:pPr>
            <a:r>
              <a:t>Bukti Eksternal</a:t>
            </a:r>
          </a:p>
        </p:txBody>
      </p:sp>
      <p:sp>
        <p:nvSpPr>
          <p:cNvPr id="18" name="TextBox 17"/>
          <p:cNvSpPr txBox="1"/>
          <p:nvPr/>
        </p:nvSpPr>
        <p:spPr>
          <a:xfrm>
            <a:off x="594360" y="4892040"/>
            <a:ext cx="3291840" cy="457200"/>
          </a:xfrm>
          <a:prstGeom prst="rect">
            <a:avLst/>
          </a:prstGeom>
          <a:noFill/>
        </p:spPr>
        <p:txBody>
          <a:bodyPr wrap="square">
            <a:spAutoFit/>
          </a:bodyPr>
          <a:lstStyle/>
          <a:p>
            <a:pPr algn="ctr">
              <a:defRPr sz="1100" b="0">
                <a:solidFill>
                  <a:srgbClr val="404040"/>
                </a:solidFill>
              </a:defRPr>
            </a:pPr>
            <a:r>
              <a:t>Konfirmasi pihak ketiga, dokumen eksternal</a:t>
            </a:r>
          </a:p>
        </p:txBody>
      </p:sp>
      <p:sp>
        <p:nvSpPr>
          <p:cNvPr id="19" name="TextBox 18"/>
          <p:cNvSpPr txBox="1"/>
          <p:nvPr/>
        </p:nvSpPr>
        <p:spPr>
          <a:xfrm>
            <a:off x="594360" y="5394960"/>
            <a:ext cx="3291840" cy="320040"/>
          </a:xfrm>
          <a:prstGeom prst="rect">
            <a:avLst/>
          </a:prstGeom>
          <a:noFill/>
        </p:spPr>
        <p:txBody>
          <a:bodyPr wrap="square">
            <a:spAutoFit/>
          </a:bodyPr>
          <a:lstStyle/>
          <a:p>
            <a:pPr algn="ctr">
              <a:defRPr sz="1100" b="1">
                <a:solidFill>
                  <a:srgbClr val="27AE60"/>
                </a:solidFill>
              </a:defRPr>
            </a:pPr>
            <a:r>
              <a:t>Keandalan TINGGI</a:t>
            </a:r>
          </a:p>
        </p:txBody>
      </p:sp>
      <p:sp>
        <p:nvSpPr>
          <p:cNvPr id="20" name="Rounded Rectangle 19"/>
          <p:cNvSpPr/>
          <p:nvPr/>
        </p:nvSpPr>
        <p:spPr>
          <a:xfrm>
            <a:off x="4297680" y="4480560"/>
            <a:ext cx="3566160" cy="137160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4572000"/>
            <a:ext cx="3291840" cy="320040"/>
          </a:xfrm>
          <a:prstGeom prst="rect">
            <a:avLst/>
          </a:prstGeom>
          <a:noFill/>
        </p:spPr>
        <p:txBody>
          <a:bodyPr wrap="square">
            <a:spAutoFit/>
          </a:bodyPr>
          <a:lstStyle/>
          <a:p>
            <a:pPr algn="ctr">
              <a:defRPr sz="1300" b="1">
                <a:solidFill>
                  <a:srgbClr val="003366"/>
                </a:solidFill>
              </a:defRPr>
            </a:pPr>
            <a:r>
              <a:t>Bukti Internal Formal</a:t>
            </a:r>
          </a:p>
        </p:txBody>
      </p:sp>
      <p:sp>
        <p:nvSpPr>
          <p:cNvPr id="22" name="TextBox 21"/>
          <p:cNvSpPr txBox="1"/>
          <p:nvPr/>
        </p:nvSpPr>
        <p:spPr>
          <a:xfrm>
            <a:off x="4434840" y="4892040"/>
            <a:ext cx="3291840" cy="457200"/>
          </a:xfrm>
          <a:prstGeom prst="rect">
            <a:avLst/>
          </a:prstGeom>
          <a:noFill/>
        </p:spPr>
        <p:txBody>
          <a:bodyPr wrap="square">
            <a:spAutoFit/>
          </a:bodyPr>
          <a:lstStyle/>
          <a:p>
            <a:pPr algn="ctr">
              <a:defRPr sz="1100" b="0">
                <a:solidFill>
                  <a:srgbClr val="404040"/>
                </a:solidFill>
              </a:defRPr>
            </a:pPr>
            <a:r>
              <a:t>Dokumen resmi internal perusahaan</a:t>
            </a:r>
          </a:p>
        </p:txBody>
      </p:sp>
      <p:sp>
        <p:nvSpPr>
          <p:cNvPr id="23" name="TextBox 22"/>
          <p:cNvSpPr txBox="1"/>
          <p:nvPr/>
        </p:nvSpPr>
        <p:spPr>
          <a:xfrm>
            <a:off x="4434840" y="5394960"/>
            <a:ext cx="3291840" cy="320040"/>
          </a:xfrm>
          <a:prstGeom prst="rect">
            <a:avLst/>
          </a:prstGeom>
          <a:noFill/>
        </p:spPr>
        <p:txBody>
          <a:bodyPr wrap="square">
            <a:spAutoFit/>
          </a:bodyPr>
          <a:lstStyle/>
          <a:p>
            <a:pPr algn="ctr">
              <a:defRPr sz="1100" b="1">
                <a:solidFill>
                  <a:srgbClr val="E67E22"/>
                </a:solidFill>
              </a:defRPr>
            </a:pPr>
            <a:r>
              <a:t>Keandalan SEDANG</a:t>
            </a:r>
          </a:p>
        </p:txBody>
      </p:sp>
      <p:sp>
        <p:nvSpPr>
          <p:cNvPr id="24" name="Rounded Rectangle 23"/>
          <p:cNvSpPr/>
          <p:nvPr/>
        </p:nvSpPr>
        <p:spPr>
          <a:xfrm>
            <a:off x="8138160" y="4480560"/>
            <a:ext cx="3566160" cy="1371600"/>
          </a:xfrm>
          <a:prstGeom prst="roundRect">
            <a:avLst/>
          </a:prstGeom>
          <a:solidFill>
            <a:srgbClr val="FFFFFF"/>
          </a:solidFill>
          <a:ln>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4572000"/>
            <a:ext cx="3291840" cy="320040"/>
          </a:xfrm>
          <a:prstGeom prst="rect">
            <a:avLst/>
          </a:prstGeom>
          <a:noFill/>
        </p:spPr>
        <p:txBody>
          <a:bodyPr wrap="square">
            <a:spAutoFit/>
          </a:bodyPr>
          <a:lstStyle/>
          <a:p>
            <a:pPr algn="ctr">
              <a:defRPr sz="1300" b="1">
                <a:solidFill>
                  <a:srgbClr val="003366"/>
                </a:solidFill>
              </a:defRPr>
            </a:pPr>
            <a:r>
              <a:t>Bukti Lisan</a:t>
            </a:r>
          </a:p>
        </p:txBody>
      </p:sp>
      <p:sp>
        <p:nvSpPr>
          <p:cNvPr id="26" name="TextBox 25"/>
          <p:cNvSpPr txBox="1"/>
          <p:nvPr/>
        </p:nvSpPr>
        <p:spPr>
          <a:xfrm>
            <a:off x="8275320" y="4892040"/>
            <a:ext cx="3291840" cy="457200"/>
          </a:xfrm>
          <a:prstGeom prst="rect">
            <a:avLst/>
          </a:prstGeom>
          <a:noFill/>
        </p:spPr>
        <p:txBody>
          <a:bodyPr wrap="square">
            <a:spAutoFit/>
          </a:bodyPr>
          <a:lstStyle/>
          <a:p>
            <a:pPr algn="ctr">
              <a:defRPr sz="1100" b="0">
                <a:solidFill>
                  <a:srgbClr val="404040"/>
                </a:solidFill>
              </a:defRPr>
            </a:pPr>
            <a:r>
              <a:t>Wawancara, keterangan manajemen</a:t>
            </a:r>
          </a:p>
        </p:txBody>
      </p:sp>
      <p:sp>
        <p:nvSpPr>
          <p:cNvPr id="27" name="TextBox 26"/>
          <p:cNvSpPr txBox="1"/>
          <p:nvPr/>
        </p:nvSpPr>
        <p:spPr>
          <a:xfrm>
            <a:off x="8275320" y="5394960"/>
            <a:ext cx="3291840" cy="320040"/>
          </a:xfrm>
          <a:prstGeom prst="rect">
            <a:avLst/>
          </a:prstGeom>
          <a:noFill/>
        </p:spPr>
        <p:txBody>
          <a:bodyPr wrap="square">
            <a:spAutoFit/>
          </a:bodyPr>
          <a:lstStyle/>
          <a:p>
            <a:pPr algn="ctr">
              <a:defRPr sz="1100" b="1">
                <a:solidFill>
                  <a:srgbClr val="E74C3C"/>
                </a:solidFill>
              </a:defRPr>
            </a:pPr>
            <a:r>
              <a:t>Keandalan RENDAH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ELEMEN 5: LAPORAN ASURANS TERTULIS</a:t>
            </a:r>
          </a:p>
        </p:txBody>
      </p:sp>
      <p:sp>
        <p:nvSpPr>
          <p:cNvPr id="4" name="TextBox 3"/>
          <p:cNvSpPr txBox="1"/>
          <p:nvPr/>
        </p:nvSpPr>
        <p:spPr>
          <a:xfrm>
            <a:off x="457200" y="1234440"/>
            <a:ext cx="10972800" cy="457200"/>
          </a:xfrm>
          <a:prstGeom prst="rect">
            <a:avLst/>
          </a:prstGeom>
          <a:noFill/>
        </p:spPr>
        <p:txBody>
          <a:bodyPr wrap="square">
            <a:spAutoFit/>
          </a:bodyPr>
          <a:lstStyle/>
          <a:p>
            <a:pPr algn="l">
              <a:defRPr sz="1400" b="0">
                <a:solidFill>
                  <a:srgbClr val="404040"/>
                </a:solidFill>
              </a:defRPr>
            </a:pPr>
            <a:r>
              <a:t>Laporan asurans adalah dokumen formal yang berisi kesimpulan praktisi tentang hal pokok berdasarkan kriteria yang telah ditetapkan.</a:t>
            </a:r>
          </a:p>
        </p:txBody>
      </p:sp>
      <p:sp>
        <p:nvSpPr>
          <p:cNvPr id="5" name="TextBox 4"/>
          <p:cNvSpPr txBox="1"/>
          <p:nvPr/>
        </p:nvSpPr>
        <p:spPr>
          <a:xfrm>
            <a:off x="457200" y="1828800"/>
            <a:ext cx="5486400" cy="365760"/>
          </a:xfrm>
          <a:prstGeom prst="rect">
            <a:avLst/>
          </a:prstGeom>
          <a:noFill/>
        </p:spPr>
        <p:txBody>
          <a:bodyPr wrap="square">
            <a:spAutoFit/>
          </a:bodyPr>
          <a:lstStyle/>
          <a:p>
            <a:pPr algn="l">
              <a:defRPr sz="1600" b="1">
                <a:solidFill>
                  <a:srgbClr val="003366"/>
                </a:solidFill>
              </a:defRPr>
            </a:pPr>
            <a:r>
              <a:t>Komponen Utama Laporan Asurans:</a:t>
            </a:r>
          </a:p>
        </p:txBody>
      </p:sp>
      <p:sp>
        <p:nvSpPr>
          <p:cNvPr id="6" name="TextBox 5"/>
          <p:cNvSpPr txBox="1"/>
          <p:nvPr/>
        </p:nvSpPr>
        <p:spPr>
          <a:xfrm>
            <a:off x="640080" y="2194560"/>
            <a:ext cx="5303520" cy="320040"/>
          </a:xfrm>
          <a:prstGeom prst="rect">
            <a:avLst/>
          </a:prstGeom>
          <a:noFill/>
        </p:spPr>
        <p:txBody>
          <a:bodyPr wrap="square">
            <a:spAutoFit/>
          </a:bodyPr>
          <a:lstStyle/>
          <a:p>
            <a:pPr algn="l">
              <a:defRPr sz="1100" b="0">
                <a:solidFill>
                  <a:srgbClr val="404040"/>
                </a:solidFill>
              </a:defRPr>
            </a:pPr>
            <a:r>
              <a:t>1. Judul yang mengindikasikan laporan praktisi independen</a:t>
            </a:r>
          </a:p>
        </p:txBody>
      </p:sp>
      <p:sp>
        <p:nvSpPr>
          <p:cNvPr id="7" name="TextBox 6"/>
          <p:cNvSpPr txBox="1"/>
          <p:nvPr/>
        </p:nvSpPr>
        <p:spPr>
          <a:xfrm>
            <a:off x="640080" y="2542032"/>
            <a:ext cx="5303520" cy="320040"/>
          </a:xfrm>
          <a:prstGeom prst="rect">
            <a:avLst/>
          </a:prstGeom>
          <a:noFill/>
        </p:spPr>
        <p:txBody>
          <a:bodyPr wrap="square">
            <a:spAutoFit/>
          </a:bodyPr>
          <a:lstStyle/>
          <a:p>
            <a:pPr algn="l">
              <a:defRPr sz="1100" b="0">
                <a:solidFill>
                  <a:srgbClr val="404040"/>
                </a:solidFill>
              </a:defRPr>
            </a:pPr>
            <a:r>
              <a:t>2. Pihak yang dituju (addressee)</a:t>
            </a:r>
          </a:p>
        </p:txBody>
      </p:sp>
      <p:sp>
        <p:nvSpPr>
          <p:cNvPr id="8" name="TextBox 7"/>
          <p:cNvSpPr txBox="1"/>
          <p:nvPr/>
        </p:nvSpPr>
        <p:spPr>
          <a:xfrm>
            <a:off x="640080" y="2889504"/>
            <a:ext cx="5303520" cy="320040"/>
          </a:xfrm>
          <a:prstGeom prst="rect">
            <a:avLst/>
          </a:prstGeom>
          <a:noFill/>
        </p:spPr>
        <p:txBody>
          <a:bodyPr wrap="square">
            <a:spAutoFit/>
          </a:bodyPr>
          <a:lstStyle/>
          <a:p>
            <a:pPr algn="l">
              <a:defRPr sz="1100" b="0">
                <a:solidFill>
                  <a:srgbClr val="404040"/>
                </a:solidFill>
              </a:defRPr>
            </a:pPr>
            <a:r>
              <a:t>3. Identifikasi dan deskripsi informasi hal pokok</a:t>
            </a:r>
          </a:p>
        </p:txBody>
      </p:sp>
      <p:sp>
        <p:nvSpPr>
          <p:cNvPr id="9" name="TextBox 8"/>
          <p:cNvSpPr txBox="1"/>
          <p:nvPr/>
        </p:nvSpPr>
        <p:spPr>
          <a:xfrm>
            <a:off x="640080" y="3236976"/>
            <a:ext cx="5303520" cy="320040"/>
          </a:xfrm>
          <a:prstGeom prst="rect">
            <a:avLst/>
          </a:prstGeom>
          <a:noFill/>
        </p:spPr>
        <p:txBody>
          <a:bodyPr wrap="square">
            <a:spAutoFit/>
          </a:bodyPr>
          <a:lstStyle/>
          <a:p>
            <a:pPr algn="l">
              <a:defRPr sz="1100" b="0">
                <a:solidFill>
                  <a:srgbClr val="404040"/>
                </a:solidFill>
              </a:defRPr>
            </a:pPr>
            <a:r>
              <a:t>4. Identifikasi kriteria yang digunakan</a:t>
            </a:r>
          </a:p>
        </p:txBody>
      </p:sp>
      <p:sp>
        <p:nvSpPr>
          <p:cNvPr id="10" name="TextBox 9"/>
          <p:cNvSpPr txBox="1"/>
          <p:nvPr/>
        </p:nvSpPr>
        <p:spPr>
          <a:xfrm>
            <a:off x="640080" y="3584448"/>
            <a:ext cx="5303520" cy="320040"/>
          </a:xfrm>
          <a:prstGeom prst="rect">
            <a:avLst/>
          </a:prstGeom>
          <a:noFill/>
        </p:spPr>
        <p:txBody>
          <a:bodyPr wrap="square">
            <a:spAutoFit/>
          </a:bodyPr>
          <a:lstStyle/>
          <a:p>
            <a:pPr algn="l">
              <a:defRPr sz="1100" b="0">
                <a:solidFill>
                  <a:srgbClr val="404040"/>
                </a:solidFill>
              </a:defRPr>
            </a:pPr>
            <a:r>
              <a:t>5. Deskripsi tanggung jawab pihak yang tepat</a:t>
            </a:r>
          </a:p>
        </p:txBody>
      </p:sp>
      <p:sp>
        <p:nvSpPr>
          <p:cNvPr id="11" name="TextBox 10"/>
          <p:cNvSpPr txBox="1"/>
          <p:nvPr/>
        </p:nvSpPr>
        <p:spPr>
          <a:xfrm>
            <a:off x="6217920" y="2194560"/>
            <a:ext cx="5303520" cy="320040"/>
          </a:xfrm>
          <a:prstGeom prst="rect">
            <a:avLst/>
          </a:prstGeom>
          <a:noFill/>
        </p:spPr>
        <p:txBody>
          <a:bodyPr wrap="square">
            <a:spAutoFit/>
          </a:bodyPr>
          <a:lstStyle/>
          <a:p>
            <a:pPr algn="l">
              <a:defRPr sz="1100" b="0">
                <a:solidFill>
                  <a:srgbClr val="404040"/>
                </a:solidFill>
              </a:defRPr>
            </a:pPr>
            <a:r>
              <a:t>6. Deskripsi tanggung jawab praktisi</a:t>
            </a:r>
          </a:p>
        </p:txBody>
      </p:sp>
      <p:sp>
        <p:nvSpPr>
          <p:cNvPr id="12" name="TextBox 11"/>
          <p:cNvSpPr txBox="1"/>
          <p:nvPr/>
        </p:nvSpPr>
        <p:spPr>
          <a:xfrm>
            <a:off x="6217920" y="2542032"/>
            <a:ext cx="5303520" cy="320040"/>
          </a:xfrm>
          <a:prstGeom prst="rect">
            <a:avLst/>
          </a:prstGeom>
          <a:noFill/>
        </p:spPr>
        <p:txBody>
          <a:bodyPr wrap="square">
            <a:spAutoFit/>
          </a:bodyPr>
          <a:lstStyle/>
          <a:p>
            <a:pPr algn="l">
              <a:defRPr sz="1100" b="0">
                <a:solidFill>
                  <a:srgbClr val="404040"/>
                </a:solidFill>
              </a:defRPr>
            </a:pPr>
            <a:r>
              <a:t>7. Ringkasan pekerjaan yang dilakukan</a:t>
            </a:r>
          </a:p>
        </p:txBody>
      </p:sp>
      <p:sp>
        <p:nvSpPr>
          <p:cNvPr id="13" name="TextBox 12"/>
          <p:cNvSpPr txBox="1"/>
          <p:nvPr/>
        </p:nvSpPr>
        <p:spPr>
          <a:xfrm>
            <a:off x="6217920" y="2889504"/>
            <a:ext cx="5303520" cy="320040"/>
          </a:xfrm>
          <a:prstGeom prst="rect">
            <a:avLst/>
          </a:prstGeom>
          <a:noFill/>
        </p:spPr>
        <p:txBody>
          <a:bodyPr wrap="square">
            <a:spAutoFit/>
          </a:bodyPr>
          <a:lstStyle/>
          <a:p>
            <a:pPr algn="l">
              <a:defRPr sz="1100" b="0">
                <a:solidFill>
                  <a:srgbClr val="404040"/>
                </a:solidFill>
              </a:defRPr>
            </a:pPr>
            <a:r>
              <a:t>8. Kesimpulan praktisi</a:t>
            </a:r>
          </a:p>
        </p:txBody>
      </p:sp>
      <p:sp>
        <p:nvSpPr>
          <p:cNvPr id="14" name="TextBox 13"/>
          <p:cNvSpPr txBox="1"/>
          <p:nvPr/>
        </p:nvSpPr>
        <p:spPr>
          <a:xfrm>
            <a:off x="6217920" y="3236976"/>
            <a:ext cx="5303520" cy="320040"/>
          </a:xfrm>
          <a:prstGeom prst="rect">
            <a:avLst/>
          </a:prstGeom>
          <a:noFill/>
        </p:spPr>
        <p:txBody>
          <a:bodyPr wrap="square">
            <a:spAutoFit/>
          </a:bodyPr>
          <a:lstStyle/>
          <a:p>
            <a:pPr algn="l">
              <a:defRPr sz="1100" b="0">
                <a:solidFill>
                  <a:srgbClr val="404040"/>
                </a:solidFill>
              </a:defRPr>
            </a:pPr>
            <a:r>
              <a:t>9. Tanggal laporan asurans</a:t>
            </a:r>
          </a:p>
        </p:txBody>
      </p:sp>
      <p:sp>
        <p:nvSpPr>
          <p:cNvPr id="15" name="TextBox 14"/>
          <p:cNvSpPr txBox="1"/>
          <p:nvPr/>
        </p:nvSpPr>
        <p:spPr>
          <a:xfrm>
            <a:off x="6217920" y="3584448"/>
            <a:ext cx="5303520" cy="320040"/>
          </a:xfrm>
          <a:prstGeom prst="rect">
            <a:avLst/>
          </a:prstGeom>
          <a:noFill/>
        </p:spPr>
        <p:txBody>
          <a:bodyPr wrap="square">
            <a:spAutoFit/>
          </a:bodyPr>
          <a:lstStyle/>
          <a:p>
            <a:pPr algn="l">
              <a:defRPr sz="1100" b="0">
                <a:solidFill>
                  <a:srgbClr val="404040"/>
                </a:solidFill>
              </a:defRPr>
            </a:pPr>
            <a:r>
              <a:t>10. Nama dan tanda tangan praktisi</a:t>
            </a:r>
          </a:p>
        </p:txBody>
      </p:sp>
      <p:sp>
        <p:nvSpPr>
          <p:cNvPr id="16" name="TextBox 15"/>
          <p:cNvSpPr txBox="1"/>
          <p:nvPr/>
        </p:nvSpPr>
        <p:spPr>
          <a:xfrm>
            <a:off x="457200" y="4114800"/>
            <a:ext cx="10972800" cy="365760"/>
          </a:xfrm>
          <a:prstGeom prst="rect">
            <a:avLst/>
          </a:prstGeom>
          <a:noFill/>
        </p:spPr>
        <p:txBody>
          <a:bodyPr wrap="square">
            <a:spAutoFit/>
          </a:bodyPr>
          <a:lstStyle/>
          <a:p>
            <a:pPr algn="l">
              <a:defRPr sz="1600" b="1">
                <a:solidFill>
                  <a:srgbClr val="003366"/>
                </a:solidFill>
              </a:defRPr>
            </a:pPr>
            <a:r>
              <a:t>Bentuk Kesimpulan:</a:t>
            </a:r>
          </a:p>
        </p:txBody>
      </p:sp>
      <p:sp>
        <p:nvSpPr>
          <p:cNvPr id="17" name="Rounded Rectangle 16"/>
          <p:cNvSpPr/>
          <p:nvPr/>
        </p:nvSpPr>
        <p:spPr>
          <a:xfrm>
            <a:off x="457200" y="4572000"/>
            <a:ext cx="5486400" cy="146304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63440"/>
            <a:ext cx="5120640" cy="320040"/>
          </a:xfrm>
          <a:prstGeom prst="rect">
            <a:avLst/>
          </a:prstGeom>
          <a:noFill/>
        </p:spPr>
        <p:txBody>
          <a:bodyPr wrap="square">
            <a:spAutoFit/>
          </a:bodyPr>
          <a:lstStyle/>
          <a:p>
            <a:pPr algn="l">
              <a:defRPr sz="1300" b="1">
                <a:solidFill>
                  <a:srgbClr val="27AE60"/>
                </a:solidFill>
              </a:defRPr>
            </a:pPr>
            <a:r>
              <a:t>Bentuk Positif (Keyakinan Memadai)</a:t>
            </a:r>
          </a:p>
        </p:txBody>
      </p:sp>
      <p:sp>
        <p:nvSpPr>
          <p:cNvPr id="19" name="TextBox 18"/>
          <p:cNvSpPr txBox="1"/>
          <p:nvPr/>
        </p:nvSpPr>
        <p:spPr>
          <a:xfrm>
            <a:off x="640080" y="5029200"/>
            <a:ext cx="5120640" cy="822960"/>
          </a:xfrm>
          <a:prstGeom prst="rect">
            <a:avLst/>
          </a:prstGeom>
          <a:noFill/>
        </p:spPr>
        <p:txBody>
          <a:bodyPr wrap="square">
            <a:spAutoFit/>
          </a:bodyPr>
          <a:lstStyle/>
          <a:p>
            <a:pPr algn="l">
              <a:defRPr sz="1100" b="0">
                <a:solidFill>
                  <a:srgbClr val="404040"/>
                </a:solidFill>
              </a:defRPr>
            </a:pPr>
            <a:r>
              <a:t>"Menurut opini kami, laporan keuangan menyajikan secara wajar, dalam semua hal yang material..."</a:t>
            </a:r>
          </a:p>
        </p:txBody>
      </p:sp>
      <p:sp>
        <p:nvSpPr>
          <p:cNvPr id="20" name="Rounded Rectangle 19"/>
          <p:cNvSpPr/>
          <p:nvPr/>
        </p:nvSpPr>
        <p:spPr>
          <a:xfrm>
            <a:off x="6248095" y="4572000"/>
            <a:ext cx="5486400" cy="146304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0975" y="4663440"/>
            <a:ext cx="5120640" cy="320040"/>
          </a:xfrm>
          <a:prstGeom prst="rect">
            <a:avLst/>
          </a:prstGeom>
          <a:noFill/>
        </p:spPr>
        <p:txBody>
          <a:bodyPr wrap="square">
            <a:spAutoFit/>
          </a:bodyPr>
          <a:lstStyle/>
          <a:p>
            <a:pPr algn="l">
              <a:defRPr sz="1300" b="1">
                <a:solidFill>
                  <a:srgbClr val="E67E22"/>
                </a:solidFill>
              </a:defRPr>
            </a:pPr>
            <a:r>
              <a:t>Bentuk Negatif (Keyakinan Terbatas)</a:t>
            </a:r>
          </a:p>
        </p:txBody>
      </p:sp>
      <p:sp>
        <p:nvSpPr>
          <p:cNvPr id="22" name="TextBox 21"/>
          <p:cNvSpPr txBox="1"/>
          <p:nvPr/>
        </p:nvSpPr>
        <p:spPr>
          <a:xfrm>
            <a:off x="6430975" y="5029200"/>
            <a:ext cx="5120640" cy="822960"/>
          </a:xfrm>
          <a:prstGeom prst="rect">
            <a:avLst/>
          </a:prstGeom>
          <a:noFill/>
        </p:spPr>
        <p:txBody>
          <a:bodyPr wrap="square">
            <a:spAutoFit/>
          </a:bodyPr>
          <a:lstStyle/>
          <a:p>
            <a:pPr algn="l">
              <a:defRPr sz="1100" b="0">
                <a:solidFill>
                  <a:srgbClr val="404040"/>
                </a:solidFill>
              </a:defRPr>
            </a:pPr>
            <a:r>
              <a:t>"Berdasarkan reviu kami, tidak ada hal yang menjadi perhatian kami yang menyebabkan kami percaya bahwa..."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04  SISTEM MANAJEMEN MUTU (SMM 1)</a:t>
            </a:r>
          </a:p>
        </p:txBody>
      </p:sp>
      <p:sp>
        <p:nvSpPr>
          <p:cNvPr id="4" name="TextBox 3"/>
          <p:cNvSpPr txBox="1"/>
          <p:nvPr/>
        </p:nvSpPr>
        <p:spPr>
          <a:xfrm>
            <a:off x="457200" y="1188720"/>
            <a:ext cx="10972800" cy="365760"/>
          </a:xfrm>
          <a:prstGeom prst="rect">
            <a:avLst/>
          </a:prstGeom>
          <a:noFill/>
        </p:spPr>
        <p:txBody>
          <a:bodyPr wrap="square">
            <a:spAutoFit/>
          </a:bodyPr>
          <a:lstStyle/>
          <a:p>
            <a:pPr algn="l">
              <a:defRPr sz="2000" b="1">
                <a:solidFill>
                  <a:srgbClr val="003366"/>
                </a:solidFill>
              </a:defRPr>
            </a:pPr>
            <a:r>
              <a:t>Apa itu SMM 1?</a:t>
            </a:r>
          </a:p>
        </p:txBody>
      </p:sp>
      <p:sp>
        <p:nvSpPr>
          <p:cNvPr id="5" name="TextBox 4"/>
          <p:cNvSpPr txBox="1"/>
          <p:nvPr/>
        </p:nvSpPr>
        <p:spPr>
          <a:xfrm>
            <a:off x="457200" y="1645920"/>
            <a:ext cx="10972800" cy="731520"/>
          </a:xfrm>
          <a:prstGeom prst="rect">
            <a:avLst/>
          </a:prstGeom>
          <a:noFill/>
        </p:spPr>
        <p:txBody>
          <a:bodyPr wrap="square">
            <a:spAutoFit/>
          </a:bodyPr>
          <a:lstStyle/>
          <a:p>
            <a:pPr algn="l">
              <a:defRPr sz="1400" b="0">
                <a:solidFill>
                  <a:srgbClr val="404040"/>
                </a:solidFill>
              </a:defRPr>
            </a:pPr>
            <a:r>
              <a:t>SMM 1 (Sistem Manajemen Mutu 1) atau ISQM 1 (International Standard on Quality Management 1) adalah standar yang mengatur tentang sistem manajemen mutu bagi Kantor Akuntan Publik (KAP) yang melakukan audit, reviu, dan perikatan asurans atau jasa lainnya.</a:t>
            </a:r>
          </a:p>
        </p:txBody>
      </p:sp>
      <p:sp>
        <p:nvSpPr>
          <p:cNvPr id="6" name="TextBox 5"/>
          <p:cNvSpPr txBox="1"/>
          <p:nvPr/>
        </p:nvSpPr>
        <p:spPr>
          <a:xfrm>
            <a:off x="457200" y="2468880"/>
            <a:ext cx="10972800" cy="365760"/>
          </a:xfrm>
          <a:prstGeom prst="rect">
            <a:avLst/>
          </a:prstGeom>
          <a:noFill/>
        </p:spPr>
        <p:txBody>
          <a:bodyPr wrap="square">
            <a:spAutoFit/>
          </a:bodyPr>
          <a:lstStyle/>
          <a:p>
            <a:pPr algn="l">
              <a:defRPr sz="1600" b="1">
                <a:solidFill>
                  <a:srgbClr val="003366"/>
                </a:solidFill>
              </a:defRPr>
            </a:pPr>
            <a:r>
              <a:t>Evolusi Standar: SPM 1 ke SMM 1</a:t>
            </a:r>
          </a:p>
        </p:txBody>
      </p:sp>
      <p:sp>
        <p:nvSpPr>
          <p:cNvPr id="7" name="Rounded Rectangle 6"/>
          <p:cNvSpPr/>
          <p:nvPr/>
        </p:nvSpPr>
        <p:spPr>
          <a:xfrm>
            <a:off x="457200" y="2880360"/>
            <a:ext cx="5029200" cy="1371600"/>
          </a:xfrm>
          <a:prstGeom prst="roundRect">
            <a:avLst/>
          </a:prstGeom>
          <a:solidFill>
            <a:srgbClr val="FFEBEB"/>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71800"/>
            <a:ext cx="4663440" cy="320040"/>
          </a:xfrm>
          <a:prstGeom prst="rect">
            <a:avLst/>
          </a:prstGeom>
          <a:noFill/>
        </p:spPr>
        <p:txBody>
          <a:bodyPr wrap="square">
            <a:spAutoFit/>
          </a:bodyPr>
          <a:lstStyle/>
          <a:p>
            <a:pPr algn="l">
              <a:defRPr sz="1300" b="1">
                <a:solidFill>
                  <a:srgbClr val="E74C3C"/>
                </a:solidFill>
              </a:defRPr>
            </a:pPr>
            <a:r>
              <a:t>SPM 1 (ISQC 1) - Standar Lama</a:t>
            </a:r>
          </a:p>
        </p:txBody>
      </p:sp>
      <p:sp>
        <p:nvSpPr>
          <p:cNvPr id="9" name="TextBox 8"/>
          <p:cNvSpPr txBox="1"/>
          <p:nvPr/>
        </p:nvSpPr>
        <p:spPr>
          <a:xfrm>
            <a:off x="640080" y="3291840"/>
            <a:ext cx="4663440" cy="822960"/>
          </a:xfrm>
          <a:prstGeom prst="rect">
            <a:avLst/>
          </a:prstGeom>
          <a:noFill/>
        </p:spPr>
        <p:txBody>
          <a:bodyPr wrap="square">
            <a:spAutoFit/>
          </a:bodyPr>
          <a:lstStyle/>
          <a:p>
            <a:pPr algn="l">
              <a:defRPr sz="1100" b="0">
                <a:solidFill>
                  <a:srgbClr val="404040"/>
                </a:solidFill>
              </a:defRPr>
            </a:pPr>
            <a:r>
              <a:t>  Fokus: Pengendalian Mutu (Quality Control)</a:t>
            </a:r>
            <a:br/>
            <a:r>
              <a:t>  Pendekatan: Berbasis kepatuhan</a:t>
            </a:r>
            <a:br/>
            <a:r>
              <a:t>  Reaktif terhadap masalah mutu</a:t>
            </a:r>
          </a:p>
        </p:txBody>
      </p:sp>
      <p:sp>
        <p:nvSpPr>
          <p:cNvPr id="10" name="Right Arrow 9"/>
          <p:cNvSpPr/>
          <p:nvPr/>
        </p:nvSpPr>
        <p:spPr>
          <a:xfrm>
            <a:off x="5669280" y="3383280"/>
            <a:ext cx="731520" cy="457200"/>
          </a:xfrm>
          <a:prstGeom prst="rightArrow">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05295" y="2880360"/>
            <a:ext cx="5029200" cy="1371600"/>
          </a:xfrm>
          <a:prstGeom prst="roundRect">
            <a:avLst/>
          </a:prstGeom>
          <a:solidFill>
            <a:srgbClr val="E8FFE8"/>
          </a:solidFill>
          <a:ln>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88175" y="2971800"/>
            <a:ext cx="4663440" cy="320040"/>
          </a:xfrm>
          <a:prstGeom prst="rect">
            <a:avLst/>
          </a:prstGeom>
          <a:noFill/>
        </p:spPr>
        <p:txBody>
          <a:bodyPr wrap="square">
            <a:spAutoFit/>
          </a:bodyPr>
          <a:lstStyle/>
          <a:p>
            <a:pPr algn="l">
              <a:defRPr sz="1300" b="1">
                <a:solidFill>
                  <a:srgbClr val="27AE60"/>
                </a:solidFill>
              </a:defRPr>
            </a:pPr>
            <a:r>
              <a:t>SMM 1 (ISQM 1) - Standar Baru</a:t>
            </a:r>
          </a:p>
        </p:txBody>
      </p:sp>
      <p:sp>
        <p:nvSpPr>
          <p:cNvPr id="13" name="TextBox 12"/>
          <p:cNvSpPr txBox="1"/>
          <p:nvPr/>
        </p:nvSpPr>
        <p:spPr>
          <a:xfrm>
            <a:off x="6888175" y="3291840"/>
            <a:ext cx="4663440" cy="822960"/>
          </a:xfrm>
          <a:prstGeom prst="rect">
            <a:avLst/>
          </a:prstGeom>
          <a:noFill/>
        </p:spPr>
        <p:txBody>
          <a:bodyPr wrap="square">
            <a:spAutoFit/>
          </a:bodyPr>
          <a:lstStyle/>
          <a:p>
            <a:pPr algn="l">
              <a:defRPr sz="1100" b="0">
                <a:solidFill>
                  <a:srgbClr val="404040"/>
                </a:solidFill>
              </a:defRPr>
            </a:pPr>
            <a:r>
              <a:t>  Fokus: Manajemen Mutu (Quality Management)</a:t>
            </a:r>
            <a:br/>
            <a:r>
              <a:t>  Pendekatan: Berbasis risiko</a:t>
            </a:r>
            <a:br/>
            <a:r>
              <a:t>  Proaktif dalam mengelola mutu</a:t>
            </a:r>
          </a:p>
        </p:txBody>
      </p:sp>
      <p:sp>
        <p:nvSpPr>
          <p:cNvPr id="14" name="TextBox 13"/>
          <p:cNvSpPr txBox="1"/>
          <p:nvPr/>
        </p:nvSpPr>
        <p:spPr>
          <a:xfrm>
            <a:off x="457200" y="4480560"/>
            <a:ext cx="10972800" cy="365760"/>
          </a:xfrm>
          <a:prstGeom prst="rect">
            <a:avLst/>
          </a:prstGeom>
          <a:noFill/>
        </p:spPr>
        <p:txBody>
          <a:bodyPr wrap="square">
            <a:spAutoFit/>
          </a:bodyPr>
          <a:lstStyle/>
          <a:p>
            <a:pPr algn="l">
              <a:defRPr sz="1600" b="1">
                <a:solidFill>
                  <a:srgbClr val="003366"/>
                </a:solidFill>
              </a:defRPr>
            </a:pPr>
            <a:r>
              <a:t>Tujuan Utama SMM 1:</a:t>
            </a:r>
          </a:p>
        </p:txBody>
      </p:sp>
      <p:sp>
        <p:nvSpPr>
          <p:cNvPr id="15" name="Chevron 14"/>
          <p:cNvSpPr/>
          <p:nvPr/>
        </p:nvSpPr>
        <p:spPr>
          <a:xfrm>
            <a:off x="457200" y="4937760"/>
            <a:ext cx="320040" cy="365760"/>
          </a:xfrm>
          <a:prstGeom prst="chevron">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983480"/>
            <a:ext cx="5029200" cy="320040"/>
          </a:xfrm>
          <a:prstGeom prst="rect">
            <a:avLst/>
          </a:prstGeom>
          <a:noFill/>
        </p:spPr>
        <p:txBody>
          <a:bodyPr wrap="square">
            <a:spAutoFit/>
          </a:bodyPr>
          <a:lstStyle/>
          <a:p>
            <a:pPr algn="l">
              <a:defRPr sz="1200" b="0">
                <a:solidFill>
                  <a:srgbClr val="404040"/>
                </a:solidFill>
              </a:defRPr>
            </a:pPr>
            <a:r>
              <a:t>Merancang sistem manajemen mutu yang efektif</a:t>
            </a:r>
          </a:p>
        </p:txBody>
      </p:sp>
      <p:sp>
        <p:nvSpPr>
          <p:cNvPr id="17" name="Chevron 16"/>
          <p:cNvSpPr/>
          <p:nvPr/>
        </p:nvSpPr>
        <p:spPr>
          <a:xfrm>
            <a:off x="6323990" y="4937760"/>
            <a:ext cx="320040" cy="365760"/>
          </a:xfrm>
          <a:prstGeom prst="chevron">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5470" y="4983480"/>
            <a:ext cx="5029200" cy="320040"/>
          </a:xfrm>
          <a:prstGeom prst="rect">
            <a:avLst/>
          </a:prstGeom>
          <a:noFill/>
        </p:spPr>
        <p:txBody>
          <a:bodyPr wrap="square">
            <a:spAutoFit/>
          </a:bodyPr>
          <a:lstStyle/>
          <a:p>
            <a:pPr algn="l">
              <a:defRPr sz="1200" b="0">
                <a:solidFill>
                  <a:srgbClr val="404040"/>
                </a:solidFill>
              </a:defRPr>
            </a:pPr>
            <a:r>
              <a:t>Mengimplementasikan prosedur mutu secara konsisten</a:t>
            </a:r>
          </a:p>
        </p:txBody>
      </p:sp>
      <p:sp>
        <p:nvSpPr>
          <p:cNvPr id="19" name="Chevron 18"/>
          <p:cNvSpPr/>
          <p:nvPr/>
        </p:nvSpPr>
        <p:spPr>
          <a:xfrm>
            <a:off x="457200" y="5577840"/>
            <a:ext cx="320040" cy="365760"/>
          </a:xfrm>
          <a:prstGeom prst="chevron">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623560"/>
            <a:ext cx="5029200" cy="320040"/>
          </a:xfrm>
          <a:prstGeom prst="rect">
            <a:avLst/>
          </a:prstGeom>
          <a:noFill/>
        </p:spPr>
        <p:txBody>
          <a:bodyPr wrap="square">
            <a:spAutoFit/>
          </a:bodyPr>
          <a:lstStyle/>
          <a:p>
            <a:pPr algn="l">
              <a:defRPr sz="1200" b="0">
                <a:solidFill>
                  <a:srgbClr val="404040"/>
                </a:solidFill>
              </a:defRPr>
            </a:pPr>
            <a:r>
              <a:t>Mengoperasikan sistem untuk mencapai tujuan mutu</a:t>
            </a:r>
          </a:p>
        </p:txBody>
      </p:sp>
      <p:sp>
        <p:nvSpPr>
          <p:cNvPr id="21" name="Chevron 20"/>
          <p:cNvSpPr/>
          <p:nvPr/>
        </p:nvSpPr>
        <p:spPr>
          <a:xfrm>
            <a:off x="6323990" y="5577840"/>
            <a:ext cx="320040" cy="365760"/>
          </a:xfrm>
          <a:prstGeom prst="chevron">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5470" y="5623560"/>
            <a:ext cx="5029200" cy="320040"/>
          </a:xfrm>
          <a:prstGeom prst="rect">
            <a:avLst/>
          </a:prstGeom>
          <a:noFill/>
        </p:spPr>
        <p:txBody>
          <a:bodyPr wrap="square">
            <a:spAutoFit/>
          </a:bodyPr>
          <a:lstStyle/>
          <a:p>
            <a:pPr algn="l">
              <a:defRPr sz="1200" b="0">
                <a:solidFill>
                  <a:srgbClr val="404040"/>
                </a:solidFill>
              </a:defRPr>
            </a:pPr>
            <a:r>
              <a:t>Merespons perubahan kondisi dan keadaan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8 KOMPONEN SISTEM MANAJEMEN MUTU</a:t>
            </a:r>
          </a:p>
        </p:txBody>
      </p:sp>
      <p:sp>
        <p:nvSpPr>
          <p:cNvPr id="4" name="Rounded Rectangle 3"/>
          <p:cNvSpPr/>
          <p:nvPr/>
        </p:nvSpPr>
        <p:spPr>
          <a:xfrm>
            <a:off x="457200" y="1280160"/>
            <a:ext cx="5577840" cy="118872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94360" y="1600200"/>
            <a:ext cx="548640" cy="54864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19072"/>
            <a:ext cx="548640" cy="320040"/>
          </a:xfrm>
          <a:prstGeom prst="rect">
            <a:avLst/>
          </a:prstGeom>
          <a:noFill/>
        </p:spPr>
        <p:txBody>
          <a:bodyPr wrap="square">
            <a:spAutoFit/>
          </a:bodyPr>
          <a:lstStyle/>
          <a:p>
            <a:pPr algn="ctr">
              <a:defRPr sz="1800" b="1">
                <a:solidFill>
                  <a:srgbClr val="FFFFFF"/>
                </a:solidFill>
              </a:defRPr>
            </a:pPr>
            <a:r>
              <a:t>1</a:t>
            </a:r>
          </a:p>
        </p:txBody>
      </p:sp>
      <p:sp>
        <p:nvSpPr>
          <p:cNvPr id="7" name="TextBox 6"/>
          <p:cNvSpPr txBox="1"/>
          <p:nvPr/>
        </p:nvSpPr>
        <p:spPr>
          <a:xfrm>
            <a:off x="1280160" y="1508760"/>
            <a:ext cx="4572000" cy="365760"/>
          </a:xfrm>
          <a:prstGeom prst="rect">
            <a:avLst/>
          </a:prstGeom>
          <a:noFill/>
        </p:spPr>
        <p:txBody>
          <a:bodyPr wrap="square">
            <a:spAutoFit/>
          </a:bodyPr>
          <a:lstStyle/>
          <a:p>
            <a:pPr algn="l">
              <a:defRPr sz="1300" b="1">
                <a:solidFill>
                  <a:srgbClr val="003366"/>
                </a:solidFill>
              </a:defRPr>
            </a:pPr>
            <a:r>
              <a:t>Proses Penilaian Risiko KAP</a:t>
            </a:r>
          </a:p>
        </p:txBody>
      </p:sp>
      <p:sp>
        <p:nvSpPr>
          <p:cNvPr id="8" name="TextBox 7"/>
          <p:cNvSpPr txBox="1"/>
          <p:nvPr/>
        </p:nvSpPr>
        <p:spPr>
          <a:xfrm>
            <a:off x="1280160" y="1920239"/>
            <a:ext cx="4572000" cy="365760"/>
          </a:xfrm>
          <a:prstGeom prst="rect">
            <a:avLst/>
          </a:prstGeom>
          <a:noFill/>
        </p:spPr>
        <p:txBody>
          <a:bodyPr wrap="square">
            <a:spAutoFit/>
          </a:bodyPr>
          <a:lstStyle/>
          <a:p>
            <a:pPr algn="l">
              <a:defRPr sz="1100" b="0">
                <a:solidFill>
                  <a:srgbClr val="404040"/>
                </a:solidFill>
              </a:defRPr>
            </a:pPr>
            <a:r>
              <a:t>Mengidentifikasi dan menilai risiko mutu</a:t>
            </a:r>
          </a:p>
        </p:txBody>
      </p:sp>
      <p:sp>
        <p:nvSpPr>
          <p:cNvPr id="9" name="Rounded Rectangle 8"/>
          <p:cNvSpPr/>
          <p:nvPr/>
        </p:nvSpPr>
        <p:spPr>
          <a:xfrm>
            <a:off x="6323990" y="1280160"/>
            <a:ext cx="5577840" cy="118872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61150" y="1600200"/>
            <a:ext cx="548640" cy="54864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150" y="1719072"/>
            <a:ext cx="548640" cy="320040"/>
          </a:xfrm>
          <a:prstGeom prst="rect">
            <a:avLst/>
          </a:prstGeom>
          <a:noFill/>
        </p:spPr>
        <p:txBody>
          <a:bodyPr wrap="square">
            <a:spAutoFit/>
          </a:bodyPr>
          <a:lstStyle/>
          <a:p>
            <a:pPr algn="ctr">
              <a:defRPr sz="1800" b="1">
                <a:solidFill>
                  <a:srgbClr val="FFFFFF"/>
                </a:solidFill>
              </a:defRPr>
            </a:pPr>
            <a:r>
              <a:t>2</a:t>
            </a:r>
          </a:p>
        </p:txBody>
      </p:sp>
      <p:sp>
        <p:nvSpPr>
          <p:cNvPr id="12" name="TextBox 11"/>
          <p:cNvSpPr txBox="1"/>
          <p:nvPr/>
        </p:nvSpPr>
        <p:spPr>
          <a:xfrm>
            <a:off x="7146950" y="1508760"/>
            <a:ext cx="4572000" cy="365760"/>
          </a:xfrm>
          <a:prstGeom prst="rect">
            <a:avLst/>
          </a:prstGeom>
          <a:noFill/>
        </p:spPr>
        <p:txBody>
          <a:bodyPr wrap="square">
            <a:spAutoFit/>
          </a:bodyPr>
          <a:lstStyle/>
          <a:p>
            <a:pPr algn="l">
              <a:defRPr sz="1300" b="1">
                <a:solidFill>
                  <a:srgbClr val="8E44AD"/>
                </a:solidFill>
              </a:defRPr>
            </a:pPr>
            <a:r>
              <a:t>Tata Kelola dan Kepemimpinan</a:t>
            </a:r>
          </a:p>
        </p:txBody>
      </p:sp>
      <p:sp>
        <p:nvSpPr>
          <p:cNvPr id="13" name="TextBox 12"/>
          <p:cNvSpPr txBox="1"/>
          <p:nvPr/>
        </p:nvSpPr>
        <p:spPr>
          <a:xfrm>
            <a:off x="7146950" y="1920239"/>
            <a:ext cx="4572000" cy="365760"/>
          </a:xfrm>
          <a:prstGeom prst="rect">
            <a:avLst/>
          </a:prstGeom>
          <a:noFill/>
        </p:spPr>
        <p:txBody>
          <a:bodyPr wrap="square">
            <a:spAutoFit/>
          </a:bodyPr>
          <a:lstStyle/>
          <a:p>
            <a:pPr algn="l">
              <a:defRPr sz="1100" b="0">
                <a:solidFill>
                  <a:srgbClr val="404040"/>
                </a:solidFill>
              </a:defRPr>
            </a:pPr>
            <a:r>
              <a:t>Tanggung jawab pimpinan KAP</a:t>
            </a:r>
          </a:p>
        </p:txBody>
      </p:sp>
      <p:sp>
        <p:nvSpPr>
          <p:cNvPr id="14" name="Rounded Rectangle 13"/>
          <p:cNvSpPr/>
          <p:nvPr/>
        </p:nvSpPr>
        <p:spPr>
          <a:xfrm>
            <a:off x="457200" y="2606039"/>
            <a:ext cx="5577840" cy="118872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4360" y="2926079"/>
            <a:ext cx="548640" cy="54864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1"/>
            <a:ext cx="548640" cy="320040"/>
          </a:xfrm>
          <a:prstGeom prst="rect">
            <a:avLst/>
          </a:prstGeom>
          <a:noFill/>
        </p:spPr>
        <p:txBody>
          <a:bodyPr wrap="square">
            <a:spAutoFit/>
          </a:bodyPr>
          <a:lstStyle/>
          <a:p>
            <a:pPr algn="ctr">
              <a:defRPr sz="1800" b="1">
                <a:solidFill>
                  <a:srgbClr val="FFFFFF"/>
                </a:solidFill>
              </a:defRPr>
            </a:pPr>
            <a:r>
              <a:t>3</a:t>
            </a:r>
          </a:p>
        </p:txBody>
      </p:sp>
      <p:sp>
        <p:nvSpPr>
          <p:cNvPr id="17" name="TextBox 16"/>
          <p:cNvSpPr txBox="1"/>
          <p:nvPr/>
        </p:nvSpPr>
        <p:spPr>
          <a:xfrm>
            <a:off x="1280160" y="2834639"/>
            <a:ext cx="4572000" cy="365760"/>
          </a:xfrm>
          <a:prstGeom prst="rect">
            <a:avLst/>
          </a:prstGeom>
          <a:noFill/>
        </p:spPr>
        <p:txBody>
          <a:bodyPr wrap="square">
            <a:spAutoFit/>
          </a:bodyPr>
          <a:lstStyle/>
          <a:p>
            <a:pPr algn="l">
              <a:defRPr sz="1300" b="1">
                <a:solidFill>
                  <a:srgbClr val="27AE60"/>
                </a:solidFill>
              </a:defRPr>
            </a:pPr>
            <a:r>
              <a:t>Kewajiban Etika yang Relevan</a:t>
            </a:r>
          </a:p>
        </p:txBody>
      </p:sp>
      <p:sp>
        <p:nvSpPr>
          <p:cNvPr id="18" name="TextBox 17"/>
          <p:cNvSpPr txBox="1"/>
          <p:nvPr/>
        </p:nvSpPr>
        <p:spPr>
          <a:xfrm>
            <a:off x="1280160" y="3246120"/>
            <a:ext cx="4572000" cy="365760"/>
          </a:xfrm>
          <a:prstGeom prst="rect">
            <a:avLst/>
          </a:prstGeom>
          <a:noFill/>
        </p:spPr>
        <p:txBody>
          <a:bodyPr wrap="square">
            <a:spAutoFit/>
          </a:bodyPr>
          <a:lstStyle/>
          <a:p>
            <a:pPr algn="l">
              <a:defRPr sz="1100" b="0">
                <a:solidFill>
                  <a:srgbClr val="404040"/>
                </a:solidFill>
              </a:defRPr>
            </a:pPr>
            <a:r>
              <a:t>Kepatuhan terhadap kode etik</a:t>
            </a:r>
          </a:p>
        </p:txBody>
      </p:sp>
      <p:sp>
        <p:nvSpPr>
          <p:cNvPr id="19" name="Rounded Rectangle 18"/>
          <p:cNvSpPr/>
          <p:nvPr/>
        </p:nvSpPr>
        <p:spPr>
          <a:xfrm>
            <a:off x="6323990" y="2606039"/>
            <a:ext cx="5577840" cy="118872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61150" y="2926079"/>
            <a:ext cx="548640" cy="54864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1150" y="3044951"/>
            <a:ext cx="548640" cy="320040"/>
          </a:xfrm>
          <a:prstGeom prst="rect">
            <a:avLst/>
          </a:prstGeom>
          <a:noFill/>
        </p:spPr>
        <p:txBody>
          <a:bodyPr wrap="square">
            <a:spAutoFit/>
          </a:bodyPr>
          <a:lstStyle/>
          <a:p>
            <a:pPr algn="ctr">
              <a:defRPr sz="1800" b="1">
                <a:solidFill>
                  <a:srgbClr val="FFFFFF"/>
                </a:solidFill>
              </a:defRPr>
            </a:pPr>
            <a:r>
              <a:t>4</a:t>
            </a:r>
          </a:p>
        </p:txBody>
      </p:sp>
      <p:sp>
        <p:nvSpPr>
          <p:cNvPr id="22" name="TextBox 21"/>
          <p:cNvSpPr txBox="1"/>
          <p:nvPr/>
        </p:nvSpPr>
        <p:spPr>
          <a:xfrm>
            <a:off x="7146950" y="2834639"/>
            <a:ext cx="4572000" cy="365760"/>
          </a:xfrm>
          <a:prstGeom prst="rect">
            <a:avLst/>
          </a:prstGeom>
          <a:noFill/>
        </p:spPr>
        <p:txBody>
          <a:bodyPr wrap="square">
            <a:spAutoFit/>
          </a:bodyPr>
          <a:lstStyle/>
          <a:p>
            <a:pPr algn="l">
              <a:defRPr sz="1300" b="1">
                <a:solidFill>
                  <a:srgbClr val="E67E22"/>
                </a:solidFill>
              </a:defRPr>
            </a:pPr>
            <a:r>
              <a:t>Penerimaan dan Keberlanjutan</a:t>
            </a:r>
          </a:p>
        </p:txBody>
      </p:sp>
      <p:sp>
        <p:nvSpPr>
          <p:cNvPr id="23" name="TextBox 22"/>
          <p:cNvSpPr txBox="1"/>
          <p:nvPr/>
        </p:nvSpPr>
        <p:spPr>
          <a:xfrm>
            <a:off x="7146950" y="3246120"/>
            <a:ext cx="4572000" cy="365760"/>
          </a:xfrm>
          <a:prstGeom prst="rect">
            <a:avLst/>
          </a:prstGeom>
          <a:noFill/>
        </p:spPr>
        <p:txBody>
          <a:bodyPr wrap="square">
            <a:spAutoFit/>
          </a:bodyPr>
          <a:lstStyle/>
          <a:p>
            <a:pPr algn="l">
              <a:defRPr sz="1100" b="0">
                <a:solidFill>
                  <a:srgbClr val="404040"/>
                </a:solidFill>
              </a:defRPr>
            </a:pPr>
            <a:r>
              <a:t>Hubungan klien dan perikatan</a:t>
            </a:r>
          </a:p>
        </p:txBody>
      </p:sp>
      <p:sp>
        <p:nvSpPr>
          <p:cNvPr id="24" name="Rounded Rectangle 23"/>
          <p:cNvSpPr/>
          <p:nvPr/>
        </p:nvSpPr>
        <p:spPr>
          <a:xfrm>
            <a:off x="457200" y="3931920"/>
            <a:ext cx="5577840" cy="118872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 y="4251959"/>
            <a:ext cx="548640" cy="54864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370831"/>
            <a:ext cx="548640" cy="320040"/>
          </a:xfrm>
          <a:prstGeom prst="rect">
            <a:avLst/>
          </a:prstGeom>
          <a:noFill/>
        </p:spPr>
        <p:txBody>
          <a:bodyPr wrap="square">
            <a:spAutoFit/>
          </a:bodyPr>
          <a:lstStyle/>
          <a:p>
            <a:pPr algn="ctr">
              <a:defRPr sz="1800" b="1">
                <a:solidFill>
                  <a:srgbClr val="FFFFFF"/>
                </a:solidFill>
              </a:defRPr>
            </a:pPr>
            <a:r>
              <a:t>5</a:t>
            </a:r>
          </a:p>
        </p:txBody>
      </p:sp>
      <p:sp>
        <p:nvSpPr>
          <p:cNvPr id="27" name="TextBox 26"/>
          <p:cNvSpPr txBox="1"/>
          <p:nvPr/>
        </p:nvSpPr>
        <p:spPr>
          <a:xfrm>
            <a:off x="1280160" y="4160520"/>
            <a:ext cx="4572000" cy="365760"/>
          </a:xfrm>
          <a:prstGeom prst="rect">
            <a:avLst/>
          </a:prstGeom>
          <a:noFill/>
        </p:spPr>
        <p:txBody>
          <a:bodyPr wrap="square">
            <a:spAutoFit/>
          </a:bodyPr>
          <a:lstStyle/>
          <a:p>
            <a:pPr algn="l">
              <a:defRPr sz="1300" b="1">
                <a:solidFill>
                  <a:srgbClr val="E74C3C"/>
                </a:solidFill>
              </a:defRPr>
            </a:pPr>
            <a:r>
              <a:t>Pelaksanaan Perikatan</a:t>
            </a:r>
          </a:p>
        </p:txBody>
      </p:sp>
      <p:sp>
        <p:nvSpPr>
          <p:cNvPr id="28" name="TextBox 27"/>
          <p:cNvSpPr txBox="1"/>
          <p:nvPr/>
        </p:nvSpPr>
        <p:spPr>
          <a:xfrm>
            <a:off x="1280160" y="4572000"/>
            <a:ext cx="4572000" cy="365760"/>
          </a:xfrm>
          <a:prstGeom prst="rect">
            <a:avLst/>
          </a:prstGeom>
          <a:noFill/>
        </p:spPr>
        <p:txBody>
          <a:bodyPr wrap="square">
            <a:spAutoFit/>
          </a:bodyPr>
          <a:lstStyle/>
          <a:p>
            <a:pPr algn="l">
              <a:defRPr sz="1100" b="0">
                <a:solidFill>
                  <a:srgbClr val="404040"/>
                </a:solidFill>
              </a:defRPr>
            </a:pPr>
            <a:r>
              <a:t>Kualitas pelaksanaan setiap perikatan</a:t>
            </a:r>
          </a:p>
        </p:txBody>
      </p:sp>
      <p:sp>
        <p:nvSpPr>
          <p:cNvPr id="29" name="Rounded Rectangle 28"/>
          <p:cNvSpPr/>
          <p:nvPr/>
        </p:nvSpPr>
        <p:spPr>
          <a:xfrm>
            <a:off x="6323990" y="3931920"/>
            <a:ext cx="5577840" cy="1188720"/>
          </a:xfrm>
          <a:prstGeom prst="roundRect">
            <a:avLst/>
          </a:prstGeom>
          <a:solidFill>
            <a:srgbClr val="FFFFFF"/>
          </a:solidFill>
          <a:ln w="25400">
            <a:solidFill>
              <a:srgbClr val="1AB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1150" y="4251959"/>
            <a:ext cx="548640" cy="548640"/>
          </a:xfrm>
          <a:prstGeom prst="ellipse">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1150" y="4370831"/>
            <a:ext cx="548640" cy="320040"/>
          </a:xfrm>
          <a:prstGeom prst="rect">
            <a:avLst/>
          </a:prstGeom>
          <a:noFill/>
        </p:spPr>
        <p:txBody>
          <a:bodyPr wrap="square">
            <a:spAutoFit/>
          </a:bodyPr>
          <a:lstStyle/>
          <a:p>
            <a:pPr algn="ctr">
              <a:defRPr sz="1800" b="1">
                <a:solidFill>
                  <a:srgbClr val="FFFFFF"/>
                </a:solidFill>
              </a:defRPr>
            </a:pPr>
            <a:r>
              <a:t>6</a:t>
            </a:r>
          </a:p>
        </p:txBody>
      </p:sp>
      <p:sp>
        <p:nvSpPr>
          <p:cNvPr id="32" name="TextBox 31"/>
          <p:cNvSpPr txBox="1"/>
          <p:nvPr/>
        </p:nvSpPr>
        <p:spPr>
          <a:xfrm>
            <a:off x="7146950" y="4160520"/>
            <a:ext cx="4572000" cy="365760"/>
          </a:xfrm>
          <a:prstGeom prst="rect">
            <a:avLst/>
          </a:prstGeom>
          <a:noFill/>
        </p:spPr>
        <p:txBody>
          <a:bodyPr wrap="square">
            <a:spAutoFit/>
          </a:bodyPr>
          <a:lstStyle/>
          <a:p>
            <a:pPr algn="l">
              <a:defRPr sz="1300" b="1">
                <a:solidFill>
                  <a:srgbClr val="1ABC9C"/>
                </a:solidFill>
              </a:defRPr>
            </a:pPr>
            <a:r>
              <a:t>Sumber Daya</a:t>
            </a:r>
          </a:p>
        </p:txBody>
      </p:sp>
      <p:sp>
        <p:nvSpPr>
          <p:cNvPr id="33" name="TextBox 32"/>
          <p:cNvSpPr txBox="1"/>
          <p:nvPr/>
        </p:nvSpPr>
        <p:spPr>
          <a:xfrm>
            <a:off x="7146950" y="4572000"/>
            <a:ext cx="4572000" cy="365760"/>
          </a:xfrm>
          <a:prstGeom prst="rect">
            <a:avLst/>
          </a:prstGeom>
          <a:noFill/>
        </p:spPr>
        <p:txBody>
          <a:bodyPr wrap="square">
            <a:spAutoFit/>
          </a:bodyPr>
          <a:lstStyle/>
          <a:p>
            <a:pPr algn="l">
              <a:defRPr sz="1100" b="0">
                <a:solidFill>
                  <a:srgbClr val="404040"/>
                </a:solidFill>
              </a:defRPr>
            </a:pPr>
            <a:r>
              <a:t>SDM, teknologi, dan sumber daya intelektual</a:t>
            </a:r>
          </a:p>
        </p:txBody>
      </p:sp>
      <p:sp>
        <p:nvSpPr>
          <p:cNvPr id="34" name="Rounded Rectangle 33"/>
          <p:cNvSpPr/>
          <p:nvPr/>
        </p:nvSpPr>
        <p:spPr>
          <a:xfrm>
            <a:off x="457200" y="5257800"/>
            <a:ext cx="5577840" cy="1188720"/>
          </a:xfrm>
          <a:prstGeom prst="roundRect">
            <a:avLst/>
          </a:prstGeom>
          <a:solidFill>
            <a:srgbClr val="FFFFFF"/>
          </a:solidFill>
          <a:ln w="25400">
            <a:solidFill>
              <a:srgbClr val="DB70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4360" y="5577840"/>
            <a:ext cx="548640" cy="548640"/>
          </a:xfrm>
          <a:prstGeom prst="ellipse">
            <a:avLst/>
          </a:prstGeom>
          <a:solidFill>
            <a:srgbClr val="DB70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5696712"/>
            <a:ext cx="548640" cy="320040"/>
          </a:xfrm>
          <a:prstGeom prst="rect">
            <a:avLst/>
          </a:prstGeom>
          <a:noFill/>
        </p:spPr>
        <p:txBody>
          <a:bodyPr wrap="square">
            <a:spAutoFit/>
          </a:bodyPr>
          <a:lstStyle/>
          <a:p>
            <a:pPr algn="ctr">
              <a:defRPr sz="1800" b="1">
                <a:solidFill>
                  <a:srgbClr val="FFFFFF"/>
                </a:solidFill>
              </a:defRPr>
            </a:pPr>
            <a:r>
              <a:t>7</a:t>
            </a:r>
          </a:p>
        </p:txBody>
      </p:sp>
      <p:sp>
        <p:nvSpPr>
          <p:cNvPr id="37" name="TextBox 36"/>
          <p:cNvSpPr txBox="1"/>
          <p:nvPr/>
        </p:nvSpPr>
        <p:spPr>
          <a:xfrm>
            <a:off x="1280160" y="5486400"/>
            <a:ext cx="4572000" cy="365760"/>
          </a:xfrm>
          <a:prstGeom prst="rect">
            <a:avLst/>
          </a:prstGeom>
          <a:noFill/>
        </p:spPr>
        <p:txBody>
          <a:bodyPr wrap="square">
            <a:spAutoFit/>
          </a:bodyPr>
          <a:lstStyle/>
          <a:p>
            <a:pPr algn="l">
              <a:defRPr sz="1300" b="1">
                <a:solidFill>
                  <a:srgbClr val="DB7093"/>
                </a:solidFill>
              </a:defRPr>
            </a:pPr>
            <a:r>
              <a:t>Informasi dan Komunikasi</a:t>
            </a:r>
          </a:p>
        </p:txBody>
      </p:sp>
      <p:sp>
        <p:nvSpPr>
          <p:cNvPr id="38" name="TextBox 37"/>
          <p:cNvSpPr txBox="1"/>
          <p:nvPr/>
        </p:nvSpPr>
        <p:spPr>
          <a:xfrm>
            <a:off x="1280160" y="5897880"/>
            <a:ext cx="4572000" cy="365760"/>
          </a:xfrm>
          <a:prstGeom prst="rect">
            <a:avLst/>
          </a:prstGeom>
          <a:noFill/>
        </p:spPr>
        <p:txBody>
          <a:bodyPr wrap="square">
            <a:spAutoFit/>
          </a:bodyPr>
          <a:lstStyle/>
          <a:p>
            <a:pPr algn="l">
              <a:defRPr sz="1100" b="0">
                <a:solidFill>
                  <a:srgbClr val="404040"/>
                </a:solidFill>
              </a:defRPr>
            </a:pPr>
            <a:r>
              <a:t>Sistem informasi yang efektif</a:t>
            </a:r>
          </a:p>
        </p:txBody>
      </p:sp>
      <p:sp>
        <p:nvSpPr>
          <p:cNvPr id="39" name="Rounded Rectangle 38"/>
          <p:cNvSpPr/>
          <p:nvPr/>
        </p:nvSpPr>
        <p:spPr>
          <a:xfrm>
            <a:off x="6323990" y="5257800"/>
            <a:ext cx="5577840" cy="1188720"/>
          </a:xfrm>
          <a:prstGeom prst="roundRect">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61150" y="5577840"/>
            <a:ext cx="548640" cy="548640"/>
          </a:xfrm>
          <a:prstGeom prst="ellipse">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1150" y="5696712"/>
            <a:ext cx="548640" cy="320040"/>
          </a:xfrm>
          <a:prstGeom prst="rect">
            <a:avLst/>
          </a:prstGeom>
          <a:noFill/>
        </p:spPr>
        <p:txBody>
          <a:bodyPr wrap="square">
            <a:spAutoFit/>
          </a:bodyPr>
          <a:lstStyle/>
          <a:p>
            <a:pPr algn="ctr">
              <a:defRPr sz="1800" b="1">
                <a:solidFill>
                  <a:srgbClr val="FFFFFF"/>
                </a:solidFill>
              </a:defRPr>
            </a:pPr>
            <a:r>
              <a:t>8</a:t>
            </a:r>
          </a:p>
        </p:txBody>
      </p:sp>
      <p:sp>
        <p:nvSpPr>
          <p:cNvPr id="42" name="TextBox 41"/>
          <p:cNvSpPr txBox="1"/>
          <p:nvPr/>
        </p:nvSpPr>
        <p:spPr>
          <a:xfrm>
            <a:off x="7146950" y="5486400"/>
            <a:ext cx="4572000" cy="365760"/>
          </a:xfrm>
          <a:prstGeom prst="rect">
            <a:avLst/>
          </a:prstGeom>
          <a:noFill/>
        </p:spPr>
        <p:txBody>
          <a:bodyPr wrap="square">
            <a:spAutoFit/>
          </a:bodyPr>
          <a:lstStyle/>
          <a:p>
            <a:pPr algn="l">
              <a:defRPr sz="1300" b="1">
                <a:solidFill>
                  <a:srgbClr val="006699"/>
                </a:solidFill>
              </a:defRPr>
            </a:pPr>
            <a:r>
              <a:t>Proses Pemantauan dan Remediasi</a:t>
            </a:r>
          </a:p>
        </p:txBody>
      </p:sp>
      <p:sp>
        <p:nvSpPr>
          <p:cNvPr id="43" name="TextBox 42"/>
          <p:cNvSpPr txBox="1"/>
          <p:nvPr/>
        </p:nvSpPr>
        <p:spPr>
          <a:xfrm>
            <a:off x="7146950" y="5897880"/>
            <a:ext cx="4572000" cy="365760"/>
          </a:xfrm>
          <a:prstGeom prst="rect">
            <a:avLst/>
          </a:prstGeom>
          <a:noFill/>
        </p:spPr>
        <p:txBody>
          <a:bodyPr wrap="square">
            <a:spAutoFit/>
          </a:bodyPr>
          <a:lstStyle/>
          <a:p>
            <a:pPr algn="l">
              <a:defRPr sz="1100" b="0">
                <a:solidFill>
                  <a:srgbClr val="404040"/>
                </a:solidFill>
              </a:defRPr>
            </a:pPr>
            <a:r>
              <a:t>Evaluasi dan perbaikan berkelanjutan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KOMPONEN SMM 1 (Detail 1-4)</a:t>
            </a:r>
          </a:p>
        </p:txBody>
      </p:sp>
      <p:sp>
        <p:nvSpPr>
          <p:cNvPr id="4" name="Rounded Rectangle 3"/>
          <p:cNvSpPr/>
          <p:nvPr/>
        </p:nvSpPr>
        <p:spPr>
          <a:xfrm>
            <a:off x="457200" y="1234440"/>
            <a:ext cx="5577840" cy="24688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212080" cy="365760"/>
          </a:xfrm>
          <a:prstGeom prst="rect">
            <a:avLst/>
          </a:prstGeom>
          <a:noFill/>
        </p:spPr>
        <p:txBody>
          <a:bodyPr wrap="square">
            <a:spAutoFit/>
          </a:bodyPr>
          <a:lstStyle/>
          <a:p>
            <a:pPr algn="l">
              <a:defRPr sz="1400" b="1">
                <a:solidFill>
                  <a:srgbClr val="003366"/>
                </a:solidFill>
              </a:defRPr>
            </a:pPr>
            <a:r>
              <a:t>1. Proses Penilaian Risiko KAP</a:t>
            </a:r>
          </a:p>
        </p:txBody>
      </p:sp>
      <p:sp>
        <p:nvSpPr>
          <p:cNvPr id="6" name="TextBox 5"/>
          <p:cNvSpPr txBox="1"/>
          <p:nvPr/>
        </p:nvSpPr>
        <p:spPr>
          <a:xfrm>
            <a:off x="640080" y="1737360"/>
            <a:ext cx="5212080" cy="365760"/>
          </a:xfrm>
          <a:prstGeom prst="rect">
            <a:avLst/>
          </a:prstGeom>
          <a:noFill/>
        </p:spPr>
        <p:txBody>
          <a:bodyPr wrap="square">
            <a:spAutoFit/>
          </a:bodyPr>
          <a:lstStyle/>
          <a:p>
            <a:pPr algn="l">
              <a:defRPr sz="1100" b="0">
                <a:solidFill>
                  <a:srgbClr val="404040"/>
                </a:solidFill>
              </a:defRPr>
            </a:pPr>
            <a:r>
              <a:t>  Menetapkan tujuan mutu yang ingin dicapai</a:t>
            </a:r>
          </a:p>
        </p:txBody>
      </p:sp>
      <p:sp>
        <p:nvSpPr>
          <p:cNvPr id="7" name="TextBox 6"/>
          <p:cNvSpPr txBox="1"/>
          <p:nvPr/>
        </p:nvSpPr>
        <p:spPr>
          <a:xfrm>
            <a:off x="640080" y="2194560"/>
            <a:ext cx="5212080" cy="365760"/>
          </a:xfrm>
          <a:prstGeom prst="rect">
            <a:avLst/>
          </a:prstGeom>
          <a:noFill/>
        </p:spPr>
        <p:txBody>
          <a:bodyPr wrap="square">
            <a:spAutoFit/>
          </a:bodyPr>
          <a:lstStyle/>
          <a:p>
            <a:pPr algn="l">
              <a:defRPr sz="1100" b="0">
                <a:solidFill>
                  <a:srgbClr val="404040"/>
                </a:solidFill>
              </a:defRPr>
            </a:pPr>
            <a:r>
              <a:t>  Mengidentifikasi dan menilai risiko mutu</a:t>
            </a:r>
          </a:p>
        </p:txBody>
      </p:sp>
      <p:sp>
        <p:nvSpPr>
          <p:cNvPr id="8" name="TextBox 7"/>
          <p:cNvSpPr txBox="1"/>
          <p:nvPr/>
        </p:nvSpPr>
        <p:spPr>
          <a:xfrm>
            <a:off x="640080" y="2651760"/>
            <a:ext cx="5212080" cy="365760"/>
          </a:xfrm>
          <a:prstGeom prst="rect">
            <a:avLst/>
          </a:prstGeom>
          <a:noFill/>
        </p:spPr>
        <p:txBody>
          <a:bodyPr wrap="square">
            <a:spAutoFit/>
          </a:bodyPr>
          <a:lstStyle/>
          <a:p>
            <a:pPr algn="l">
              <a:defRPr sz="1100" b="0">
                <a:solidFill>
                  <a:srgbClr val="404040"/>
                </a:solidFill>
              </a:defRPr>
            </a:pPr>
            <a:r>
              <a:t>  Merancang respons untuk mengatasi risiko</a:t>
            </a:r>
          </a:p>
        </p:txBody>
      </p:sp>
      <p:sp>
        <p:nvSpPr>
          <p:cNvPr id="9" name="TextBox 8"/>
          <p:cNvSpPr txBox="1"/>
          <p:nvPr/>
        </p:nvSpPr>
        <p:spPr>
          <a:xfrm>
            <a:off x="640080" y="3108960"/>
            <a:ext cx="5212080" cy="365760"/>
          </a:xfrm>
          <a:prstGeom prst="rect">
            <a:avLst/>
          </a:prstGeom>
          <a:noFill/>
        </p:spPr>
        <p:txBody>
          <a:bodyPr wrap="square">
            <a:spAutoFit/>
          </a:bodyPr>
          <a:lstStyle/>
          <a:p>
            <a:pPr algn="l">
              <a:defRPr sz="1100" b="0">
                <a:solidFill>
                  <a:srgbClr val="404040"/>
                </a:solidFill>
              </a:defRPr>
            </a:pPr>
            <a:r>
              <a:t>  Memantau efektivitas sistem secara berkelanjutan</a:t>
            </a:r>
          </a:p>
        </p:txBody>
      </p:sp>
      <p:sp>
        <p:nvSpPr>
          <p:cNvPr id="10" name="Rounded Rectangle 9"/>
          <p:cNvSpPr/>
          <p:nvPr/>
        </p:nvSpPr>
        <p:spPr>
          <a:xfrm>
            <a:off x="6323990" y="1234440"/>
            <a:ext cx="5577840" cy="246888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6870" y="1325880"/>
            <a:ext cx="5212080" cy="365760"/>
          </a:xfrm>
          <a:prstGeom prst="rect">
            <a:avLst/>
          </a:prstGeom>
          <a:noFill/>
        </p:spPr>
        <p:txBody>
          <a:bodyPr wrap="square">
            <a:spAutoFit/>
          </a:bodyPr>
          <a:lstStyle/>
          <a:p>
            <a:pPr algn="l">
              <a:defRPr sz="1400" b="1">
                <a:solidFill>
                  <a:srgbClr val="8E44AD"/>
                </a:solidFill>
              </a:defRPr>
            </a:pPr>
            <a:r>
              <a:t>2. Tata Kelola dan Kepemimpinan</a:t>
            </a:r>
          </a:p>
        </p:txBody>
      </p:sp>
      <p:sp>
        <p:nvSpPr>
          <p:cNvPr id="12" name="TextBox 11"/>
          <p:cNvSpPr txBox="1"/>
          <p:nvPr/>
        </p:nvSpPr>
        <p:spPr>
          <a:xfrm>
            <a:off x="6506870" y="1737360"/>
            <a:ext cx="5212080" cy="365760"/>
          </a:xfrm>
          <a:prstGeom prst="rect">
            <a:avLst/>
          </a:prstGeom>
          <a:noFill/>
        </p:spPr>
        <p:txBody>
          <a:bodyPr wrap="square">
            <a:spAutoFit/>
          </a:bodyPr>
          <a:lstStyle/>
          <a:p>
            <a:pPr algn="l">
              <a:defRPr sz="1100" b="0">
                <a:solidFill>
                  <a:srgbClr val="404040"/>
                </a:solidFill>
              </a:defRPr>
            </a:pPr>
            <a:r>
              <a:t>  Komitmen pimpinan terhadap mutu</a:t>
            </a:r>
          </a:p>
        </p:txBody>
      </p:sp>
      <p:sp>
        <p:nvSpPr>
          <p:cNvPr id="13" name="TextBox 12"/>
          <p:cNvSpPr txBox="1"/>
          <p:nvPr/>
        </p:nvSpPr>
        <p:spPr>
          <a:xfrm>
            <a:off x="6506870" y="2194560"/>
            <a:ext cx="5212080" cy="365760"/>
          </a:xfrm>
          <a:prstGeom prst="rect">
            <a:avLst/>
          </a:prstGeom>
          <a:noFill/>
        </p:spPr>
        <p:txBody>
          <a:bodyPr wrap="square">
            <a:spAutoFit/>
          </a:bodyPr>
          <a:lstStyle/>
          <a:p>
            <a:pPr algn="l">
              <a:defRPr sz="1100" b="0">
                <a:solidFill>
                  <a:srgbClr val="404040"/>
                </a:solidFill>
              </a:defRPr>
            </a:pPr>
            <a:r>
              <a:t>  Budaya organisasi yang mendukung mutu</a:t>
            </a:r>
          </a:p>
        </p:txBody>
      </p:sp>
      <p:sp>
        <p:nvSpPr>
          <p:cNvPr id="14" name="TextBox 13"/>
          <p:cNvSpPr txBox="1"/>
          <p:nvPr/>
        </p:nvSpPr>
        <p:spPr>
          <a:xfrm>
            <a:off x="6506870" y="2651760"/>
            <a:ext cx="5212080" cy="365760"/>
          </a:xfrm>
          <a:prstGeom prst="rect">
            <a:avLst/>
          </a:prstGeom>
          <a:noFill/>
        </p:spPr>
        <p:txBody>
          <a:bodyPr wrap="square">
            <a:spAutoFit/>
          </a:bodyPr>
          <a:lstStyle/>
          <a:p>
            <a:pPr algn="l">
              <a:defRPr sz="1100" b="0">
                <a:solidFill>
                  <a:srgbClr val="404040"/>
                </a:solidFill>
              </a:defRPr>
            </a:pPr>
            <a:r>
              <a:t>  Struktur organisasi yang jelas</a:t>
            </a:r>
          </a:p>
        </p:txBody>
      </p:sp>
      <p:sp>
        <p:nvSpPr>
          <p:cNvPr id="15" name="TextBox 14"/>
          <p:cNvSpPr txBox="1"/>
          <p:nvPr/>
        </p:nvSpPr>
        <p:spPr>
          <a:xfrm>
            <a:off x="6506870" y="3108960"/>
            <a:ext cx="5212080" cy="365760"/>
          </a:xfrm>
          <a:prstGeom prst="rect">
            <a:avLst/>
          </a:prstGeom>
          <a:noFill/>
        </p:spPr>
        <p:txBody>
          <a:bodyPr wrap="square">
            <a:spAutoFit/>
          </a:bodyPr>
          <a:lstStyle/>
          <a:p>
            <a:pPr algn="l">
              <a:defRPr sz="1100" b="0">
                <a:solidFill>
                  <a:srgbClr val="404040"/>
                </a:solidFill>
              </a:defRPr>
            </a:pPr>
            <a:r>
              <a:t>  Akuntabilitas dan tanggung jawab yang ditetapkan</a:t>
            </a:r>
          </a:p>
        </p:txBody>
      </p:sp>
      <p:sp>
        <p:nvSpPr>
          <p:cNvPr id="16" name="Rounded Rectangle 15"/>
          <p:cNvSpPr/>
          <p:nvPr/>
        </p:nvSpPr>
        <p:spPr>
          <a:xfrm>
            <a:off x="457200" y="3840480"/>
            <a:ext cx="5577840" cy="246888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31920"/>
            <a:ext cx="5212080" cy="365760"/>
          </a:xfrm>
          <a:prstGeom prst="rect">
            <a:avLst/>
          </a:prstGeom>
          <a:noFill/>
        </p:spPr>
        <p:txBody>
          <a:bodyPr wrap="square">
            <a:spAutoFit/>
          </a:bodyPr>
          <a:lstStyle/>
          <a:p>
            <a:pPr algn="l">
              <a:defRPr sz="1400" b="1">
                <a:solidFill>
                  <a:srgbClr val="27AE60"/>
                </a:solidFill>
              </a:defRPr>
            </a:pPr>
            <a:r>
              <a:t>3. Kewajiban Etika yang Relevan</a:t>
            </a:r>
          </a:p>
        </p:txBody>
      </p:sp>
      <p:sp>
        <p:nvSpPr>
          <p:cNvPr id="18" name="TextBox 17"/>
          <p:cNvSpPr txBox="1"/>
          <p:nvPr/>
        </p:nvSpPr>
        <p:spPr>
          <a:xfrm>
            <a:off x="640080" y="4343400"/>
            <a:ext cx="5212080" cy="365760"/>
          </a:xfrm>
          <a:prstGeom prst="rect">
            <a:avLst/>
          </a:prstGeom>
          <a:noFill/>
        </p:spPr>
        <p:txBody>
          <a:bodyPr wrap="square">
            <a:spAutoFit/>
          </a:bodyPr>
          <a:lstStyle/>
          <a:p>
            <a:pPr algn="l">
              <a:defRPr sz="1100" b="0">
                <a:solidFill>
                  <a:srgbClr val="404040"/>
                </a:solidFill>
              </a:defRPr>
            </a:pPr>
            <a:r>
              <a:t>  Kepatuhan terhadap Kode Etik Profesi</a:t>
            </a:r>
          </a:p>
        </p:txBody>
      </p:sp>
      <p:sp>
        <p:nvSpPr>
          <p:cNvPr id="19" name="TextBox 18"/>
          <p:cNvSpPr txBox="1"/>
          <p:nvPr/>
        </p:nvSpPr>
        <p:spPr>
          <a:xfrm>
            <a:off x="640080" y="4800600"/>
            <a:ext cx="5212080" cy="365760"/>
          </a:xfrm>
          <a:prstGeom prst="rect">
            <a:avLst/>
          </a:prstGeom>
          <a:noFill/>
        </p:spPr>
        <p:txBody>
          <a:bodyPr wrap="square">
            <a:spAutoFit/>
          </a:bodyPr>
          <a:lstStyle/>
          <a:p>
            <a:pPr algn="l">
              <a:defRPr sz="1100" b="0">
                <a:solidFill>
                  <a:srgbClr val="404040"/>
                </a:solidFill>
              </a:defRPr>
            </a:pPr>
            <a:r>
              <a:t>  Independensi (pikiran dan penampilan)</a:t>
            </a:r>
          </a:p>
        </p:txBody>
      </p:sp>
      <p:sp>
        <p:nvSpPr>
          <p:cNvPr id="20" name="TextBox 19"/>
          <p:cNvSpPr txBox="1"/>
          <p:nvPr/>
        </p:nvSpPr>
        <p:spPr>
          <a:xfrm>
            <a:off x="640080" y="5257800"/>
            <a:ext cx="5212080" cy="365760"/>
          </a:xfrm>
          <a:prstGeom prst="rect">
            <a:avLst/>
          </a:prstGeom>
          <a:noFill/>
        </p:spPr>
        <p:txBody>
          <a:bodyPr wrap="square">
            <a:spAutoFit/>
          </a:bodyPr>
          <a:lstStyle/>
          <a:p>
            <a:pPr algn="l">
              <a:defRPr sz="1100" b="0">
                <a:solidFill>
                  <a:srgbClr val="404040"/>
                </a:solidFill>
              </a:defRPr>
            </a:pPr>
            <a:r>
              <a:t>  Pengamanan terhadap ancaman etika</a:t>
            </a:r>
          </a:p>
        </p:txBody>
      </p:sp>
      <p:sp>
        <p:nvSpPr>
          <p:cNvPr id="21" name="TextBox 20"/>
          <p:cNvSpPr txBox="1"/>
          <p:nvPr/>
        </p:nvSpPr>
        <p:spPr>
          <a:xfrm>
            <a:off x="640080" y="5715000"/>
            <a:ext cx="5212080" cy="365760"/>
          </a:xfrm>
          <a:prstGeom prst="rect">
            <a:avLst/>
          </a:prstGeom>
          <a:noFill/>
        </p:spPr>
        <p:txBody>
          <a:bodyPr wrap="square">
            <a:spAutoFit/>
          </a:bodyPr>
          <a:lstStyle/>
          <a:p>
            <a:pPr algn="l">
              <a:defRPr sz="1100" b="0">
                <a:solidFill>
                  <a:srgbClr val="404040"/>
                </a:solidFill>
              </a:defRPr>
            </a:pPr>
            <a:r>
              <a:t>  Dokumentasi pertimbangan etika</a:t>
            </a:r>
          </a:p>
        </p:txBody>
      </p:sp>
      <p:sp>
        <p:nvSpPr>
          <p:cNvPr id="22" name="Rounded Rectangle 21"/>
          <p:cNvSpPr/>
          <p:nvPr/>
        </p:nvSpPr>
        <p:spPr>
          <a:xfrm>
            <a:off x="6323990" y="3840480"/>
            <a:ext cx="5577840" cy="246888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6870" y="3931920"/>
            <a:ext cx="5212080" cy="365760"/>
          </a:xfrm>
          <a:prstGeom prst="rect">
            <a:avLst/>
          </a:prstGeom>
          <a:noFill/>
        </p:spPr>
        <p:txBody>
          <a:bodyPr wrap="square">
            <a:spAutoFit/>
          </a:bodyPr>
          <a:lstStyle/>
          <a:p>
            <a:pPr algn="l">
              <a:defRPr sz="1400" b="1">
                <a:solidFill>
                  <a:srgbClr val="E67E22"/>
                </a:solidFill>
              </a:defRPr>
            </a:pPr>
            <a:r>
              <a:t>4. Penerimaan dan Keberlanjutan</a:t>
            </a:r>
          </a:p>
        </p:txBody>
      </p:sp>
      <p:sp>
        <p:nvSpPr>
          <p:cNvPr id="24" name="TextBox 23"/>
          <p:cNvSpPr txBox="1"/>
          <p:nvPr/>
        </p:nvSpPr>
        <p:spPr>
          <a:xfrm>
            <a:off x="6506870" y="4343400"/>
            <a:ext cx="5212080" cy="365760"/>
          </a:xfrm>
          <a:prstGeom prst="rect">
            <a:avLst/>
          </a:prstGeom>
          <a:noFill/>
        </p:spPr>
        <p:txBody>
          <a:bodyPr wrap="square">
            <a:spAutoFit/>
          </a:bodyPr>
          <a:lstStyle/>
          <a:p>
            <a:pPr algn="l">
              <a:defRPr sz="1100" b="0">
                <a:solidFill>
                  <a:srgbClr val="404040"/>
                </a:solidFill>
              </a:defRPr>
            </a:pPr>
            <a:r>
              <a:t>  Penilaian integritas klien potensial</a:t>
            </a:r>
          </a:p>
        </p:txBody>
      </p:sp>
      <p:sp>
        <p:nvSpPr>
          <p:cNvPr id="25" name="TextBox 24"/>
          <p:cNvSpPr txBox="1"/>
          <p:nvPr/>
        </p:nvSpPr>
        <p:spPr>
          <a:xfrm>
            <a:off x="6506870" y="4800600"/>
            <a:ext cx="5212080" cy="365760"/>
          </a:xfrm>
          <a:prstGeom prst="rect">
            <a:avLst/>
          </a:prstGeom>
          <a:noFill/>
        </p:spPr>
        <p:txBody>
          <a:bodyPr wrap="square">
            <a:spAutoFit/>
          </a:bodyPr>
          <a:lstStyle/>
          <a:p>
            <a:pPr algn="l">
              <a:defRPr sz="1100" b="0">
                <a:solidFill>
                  <a:srgbClr val="404040"/>
                </a:solidFill>
              </a:defRPr>
            </a:pPr>
            <a:r>
              <a:t>  Evaluasi kemampuan KAP melaksanakan perikatan</a:t>
            </a:r>
          </a:p>
        </p:txBody>
      </p:sp>
      <p:sp>
        <p:nvSpPr>
          <p:cNvPr id="26" name="TextBox 25"/>
          <p:cNvSpPr txBox="1"/>
          <p:nvPr/>
        </p:nvSpPr>
        <p:spPr>
          <a:xfrm>
            <a:off x="6506870" y="5257800"/>
            <a:ext cx="5212080" cy="365760"/>
          </a:xfrm>
          <a:prstGeom prst="rect">
            <a:avLst/>
          </a:prstGeom>
          <a:noFill/>
        </p:spPr>
        <p:txBody>
          <a:bodyPr wrap="square">
            <a:spAutoFit/>
          </a:bodyPr>
          <a:lstStyle/>
          <a:p>
            <a:pPr algn="l">
              <a:defRPr sz="1100" b="0">
                <a:solidFill>
                  <a:srgbClr val="404040"/>
                </a:solidFill>
              </a:defRPr>
            </a:pPr>
            <a:r>
              <a:t>  Pertimbangan risiko perikatan</a:t>
            </a:r>
          </a:p>
        </p:txBody>
      </p:sp>
      <p:sp>
        <p:nvSpPr>
          <p:cNvPr id="27" name="TextBox 26"/>
          <p:cNvSpPr txBox="1"/>
          <p:nvPr/>
        </p:nvSpPr>
        <p:spPr>
          <a:xfrm>
            <a:off x="6506870" y="5715000"/>
            <a:ext cx="5212080" cy="365760"/>
          </a:xfrm>
          <a:prstGeom prst="rect">
            <a:avLst/>
          </a:prstGeom>
          <a:noFill/>
        </p:spPr>
        <p:txBody>
          <a:bodyPr wrap="square">
            <a:spAutoFit/>
          </a:bodyPr>
          <a:lstStyle/>
          <a:p>
            <a:pPr algn="l">
              <a:defRPr sz="1100" b="0">
                <a:solidFill>
                  <a:srgbClr val="404040"/>
                </a:solidFill>
              </a:defRPr>
            </a:pPr>
            <a:r>
              <a:t>  Keputusan menerima/melanjutkan hubungan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KOMPONEN SMM 1 (Detail 5-8)</a:t>
            </a:r>
          </a:p>
        </p:txBody>
      </p:sp>
      <p:sp>
        <p:nvSpPr>
          <p:cNvPr id="4" name="Rounded Rectangle 3"/>
          <p:cNvSpPr/>
          <p:nvPr/>
        </p:nvSpPr>
        <p:spPr>
          <a:xfrm>
            <a:off x="457200" y="1234440"/>
            <a:ext cx="5577840" cy="2468880"/>
          </a:xfrm>
          <a:prstGeom prst="roundRect">
            <a:avLst/>
          </a:prstGeom>
          <a:solidFill>
            <a:srgbClr val="FFFFF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212080" cy="365760"/>
          </a:xfrm>
          <a:prstGeom prst="rect">
            <a:avLst/>
          </a:prstGeom>
          <a:noFill/>
        </p:spPr>
        <p:txBody>
          <a:bodyPr wrap="square">
            <a:spAutoFit/>
          </a:bodyPr>
          <a:lstStyle/>
          <a:p>
            <a:pPr algn="l">
              <a:defRPr sz="1400" b="1">
                <a:solidFill>
                  <a:srgbClr val="E74C3C"/>
                </a:solidFill>
              </a:defRPr>
            </a:pPr>
            <a:r>
              <a:t>5. Pelaksanaan Perikatan</a:t>
            </a:r>
          </a:p>
        </p:txBody>
      </p:sp>
      <p:sp>
        <p:nvSpPr>
          <p:cNvPr id="6" name="TextBox 5"/>
          <p:cNvSpPr txBox="1"/>
          <p:nvPr/>
        </p:nvSpPr>
        <p:spPr>
          <a:xfrm>
            <a:off x="640080" y="1737360"/>
            <a:ext cx="5212080" cy="365760"/>
          </a:xfrm>
          <a:prstGeom prst="rect">
            <a:avLst/>
          </a:prstGeom>
          <a:noFill/>
        </p:spPr>
        <p:txBody>
          <a:bodyPr wrap="square">
            <a:spAutoFit/>
          </a:bodyPr>
          <a:lstStyle/>
          <a:p>
            <a:pPr algn="l">
              <a:defRPr sz="1100" b="0">
                <a:solidFill>
                  <a:srgbClr val="404040"/>
                </a:solidFill>
              </a:defRPr>
            </a:pPr>
            <a:r>
              <a:t>  Supervisi dan reviu kerja tim</a:t>
            </a:r>
          </a:p>
        </p:txBody>
      </p:sp>
      <p:sp>
        <p:nvSpPr>
          <p:cNvPr id="7" name="TextBox 6"/>
          <p:cNvSpPr txBox="1"/>
          <p:nvPr/>
        </p:nvSpPr>
        <p:spPr>
          <a:xfrm>
            <a:off x="640080" y="2194560"/>
            <a:ext cx="5212080" cy="365760"/>
          </a:xfrm>
          <a:prstGeom prst="rect">
            <a:avLst/>
          </a:prstGeom>
          <a:noFill/>
        </p:spPr>
        <p:txBody>
          <a:bodyPr wrap="square">
            <a:spAutoFit/>
          </a:bodyPr>
          <a:lstStyle/>
          <a:p>
            <a:pPr algn="l">
              <a:defRPr sz="1100" b="0">
                <a:solidFill>
                  <a:srgbClr val="404040"/>
                </a:solidFill>
              </a:defRPr>
            </a:pPr>
            <a:r>
              <a:t>  Konsultasi atas hal-hal sulit</a:t>
            </a:r>
          </a:p>
        </p:txBody>
      </p:sp>
      <p:sp>
        <p:nvSpPr>
          <p:cNvPr id="8" name="TextBox 7"/>
          <p:cNvSpPr txBox="1"/>
          <p:nvPr/>
        </p:nvSpPr>
        <p:spPr>
          <a:xfrm>
            <a:off x="640080" y="2651760"/>
            <a:ext cx="5212080" cy="365760"/>
          </a:xfrm>
          <a:prstGeom prst="rect">
            <a:avLst/>
          </a:prstGeom>
          <a:noFill/>
        </p:spPr>
        <p:txBody>
          <a:bodyPr wrap="square">
            <a:spAutoFit/>
          </a:bodyPr>
          <a:lstStyle/>
          <a:p>
            <a:pPr algn="l">
              <a:defRPr sz="1100" b="0">
                <a:solidFill>
                  <a:srgbClr val="404040"/>
                </a:solidFill>
              </a:defRPr>
            </a:pPr>
            <a:r>
              <a:t>  Penyelesaian perbedaan pendapat</a:t>
            </a:r>
          </a:p>
        </p:txBody>
      </p:sp>
      <p:sp>
        <p:nvSpPr>
          <p:cNvPr id="9" name="TextBox 8"/>
          <p:cNvSpPr txBox="1"/>
          <p:nvPr/>
        </p:nvSpPr>
        <p:spPr>
          <a:xfrm>
            <a:off x="640080" y="3108960"/>
            <a:ext cx="5212080" cy="365760"/>
          </a:xfrm>
          <a:prstGeom prst="rect">
            <a:avLst/>
          </a:prstGeom>
          <a:noFill/>
        </p:spPr>
        <p:txBody>
          <a:bodyPr wrap="square">
            <a:spAutoFit/>
          </a:bodyPr>
          <a:lstStyle/>
          <a:p>
            <a:pPr algn="l">
              <a:defRPr sz="1100" b="0">
                <a:solidFill>
                  <a:srgbClr val="404040"/>
                </a:solidFill>
              </a:defRPr>
            </a:pPr>
            <a:r>
              <a:t>  Dokumentasi perikatan yang memadai</a:t>
            </a:r>
          </a:p>
        </p:txBody>
      </p:sp>
      <p:sp>
        <p:nvSpPr>
          <p:cNvPr id="10" name="Rounded Rectangle 9"/>
          <p:cNvSpPr/>
          <p:nvPr/>
        </p:nvSpPr>
        <p:spPr>
          <a:xfrm>
            <a:off x="6323990" y="1234440"/>
            <a:ext cx="5577840" cy="2468880"/>
          </a:xfrm>
          <a:prstGeom prst="roundRect">
            <a:avLst/>
          </a:prstGeom>
          <a:solidFill>
            <a:srgbClr val="FFFFFF"/>
          </a:solidFill>
          <a:ln w="25400">
            <a:solidFill>
              <a:srgbClr val="1AB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6870" y="1325880"/>
            <a:ext cx="5212080" cy="365760"/>
          </a:xfrm>
          <a:prstGeom prst="rect">
            <a:avLst/>
          </a:prstGeom>
          <a:noFill/>
        </p:spPr>
        <p:txBody>
          <a:bodyPr wrap="square">
            <a:spAutoFit/>
          </a:bodyPr>
          <a:lstStyle/>
          <a:p>
            <a:pPr algn="l">
              <a:defRPr sz="1400" b="1">
                <a:solidFill>
                  <a:srgbClr val="1ABC9C"/>
                </a:solidFill>
              </a:defRPr>
            </a:pPr>
            <a:r>
              <a:t>6. Sumber Daya</a:t>
            </a:r>
          </a:p>
        </p:txBody>
      </p:sp>
      <p:sp>
        <p:nvSpPr>
          <p:cNvPr id="12" name="TextBox 11"/>
          <p:cNvSpPr txBox="1"/>
          <p:nvPr/>
        </p:nvSpPr>
        <p:spPr>
          <a:xfrm>
            <a:off x="6506870" y="1737360"/>
            <a:ext cx="5212080" cy="365760"/>
          </a:xfrm>
          <a:prstGeom prst="rect">
            <a:avLst/>
          </a:prstGeom>
          <a:noFill/>
        </p:spPr>
        <p:txBody>
          <a:bodyPr wrap="square">
            <a:spAutoFit/>
          </a:bodyPr>
          <a:lstStyle/>
          <a:p>
            <a:pPr algn="l">
              <a:defRPr sz="1100" b="0">
                <a:solidFill>
                  <a:srgbClr val="404040"/>
                </a:solidFill>
              </a:defRPr>
            </a:pPr>
            <a:r>
              <a:t>  Sumber daya manusia (rekrutmen, pelatihan)</a:t>
            </a:r>
          </a:p>
        </p:txBody>
      </p:sp>
      <p:sp>
        <p:nvSpPr>
          <p:cNvPr id="13" name="TextBox 12"/>
          <p:cNvSpPr txBox="1"/>
          <p:nvPr/>
        </p:nvSpPr>
        <p:spPr>
          <a:xfrm>
            <a:off x="6506870" y="2194560"/>
            <a:ext cx="5212080" cy="365760"/>
          </a:xfrm>
          <a:prstGeom prst="rect">
            <a:avLst/>
          </a:prstGeom>
          <a:noFill/>
        </p:spPr>
        <p:txBody>
          <a:bodyPr wrap="square">
            <a:spAutoFit/>
          </a:bodyPr>
          <a:lstStyle/>
          <a:p>
            <a:pPr algn="l">
              <a:defRPr sz="1100" b="0">
                <a:solidFill>
                  <a:srgbClr val="404040"/>
                </a:solidFill>
              </a:defRPr>
            </a:pPr>
            <a:r>
              <a:t>  Sumber daya teknologi (IT, software audit)</a:t>
            </a:r>
          </a:p>
        </p:txBody>
      </p:sp>
      <p:sp>
        <p:nvSpPr>
          <p:cNvPr id="14" name="TextBox 13"/>
          <p:cNvSpPr txBox="1"/>
          <p:nvPr/>
        </p:nvSpPr>
        <p:spPr>
          <a:xfrm>
            <a:off x="6506870" y="2651760"/>
            <a:ext cx="5212080" cy="365760"/>
          </a:xfrm>
          <a:prstGeom prst="rect">
            <a:avLst/>
          </a:prstGeom>
          <a:noFill/>
        </p:spPr>
        <p:txBody>
          <a:bodyPr wrap="square">
            <a:spAutoFit/>
          </a:bodyPr>
          <a:lstStyle/>
          <a:p>
            <a:pPr algn="l">
              <a:defRPr sz="1100" b="0">
                <a:solidFill>
                  <a:srgbClr val="404040"/>
                </a:solidFill>
              </a:defRPr>
            </a:pPr>
            <a:r>
              <a:t>  Sumber daya intelektual (metodologi, standar)</a:t>
            </a:r>
          </a:p>
        </p:txBody>
      </p:sp>
      <p:sp>
        <p:nvSpPr>
          <p:cNvPr id="15" name="TextBox 14"/>
          <p:cNvSpPr txBox="1"/>
          <p:nvPr/>
        </p:nvSpPr>
        <p:spPr>
          <a:xfrm>
            <a:off x="6506870" y="3108960"/>
            <a:ext cx="5212080" cy="365760"/>
          </a:xfrm>
          <a:prstGeom prst="rect">
            <a:avLst/>
          </a:prstGeom>
          <a:noFill/>
        </p:spPr>
        <p:txBody>
          <a:bodyPr wrap="square">
            <a:spAutoFit/>
          </a:bodyPr>
          <a:lstStyle/>
          <a:p>
            <a:pPr algn="l">
              <a:defRPr sz="1100" b="0">
                <a:solidFill>
                  <a:srgbClr val="404040"/>
                </a:solidFill>
              </a:defRPr>
            </a:pPr>
            <a:r>
              <a:t>  Sumber daya jasa (pihak ketiga)</a:t>
            </a:r>
          </a:p>
        </p:txBody>
      </p:sp>
      <p:sp>
        <p:nvSpPr>
          <p:cNvPr id="16" name="Rounded Rectangle 15"/>
          <p:cNvSpPr/>
          <p:nvPr/>
        </p:nvSpPr>
        <p:spPr>
          <a:xfrm>
            <a:off x="457200" y="3840480"/>
            <a:ext cx="5577840" cy="2468880"/>
          </a:xfrm>
          <a:prstGeom prst="roundRect">
            <a:avLst/>
          </a:prstGeom>
          <a:solidFill>
            <a:srgbClr val="FFFFFF"/>
          </a:solidFill>
          <a:ln w="25400">
            <a:solidFill>
              <a:srgbClr val="DB70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31920"/>
            <a:ext cx="5212080" cy="365760"/>
          </a:xfrm>
          <a:prstGeom prst="rect">
            <a:avLst/>
          </a:prstGeom>
          <a:noFill/>
        </p:spPr>
        <p:txBody>
          <a:bodyPr wrap="square">
            <a:spAutoFit/>
          </a:bodyPr>
          <a:lstStyle/>
          <a:p>
            <a:pPr algn="l">
              <a:defRPr sz="1400" b="1">
                <a:solidFill>
                  <a:srgbClr val="DB7093"/>
                </a:solidFill>
              </a:defRPr>
            </a:pPr>
            <a:r>
              <a:t>7. Informasi dan Komunikasi</a:t>
            </a:r>
          </a:p>
        </p:txBody>
      </p:sp>
      <p:sp>
        <p:nvSpPr>
          <p:cNvPr id="18" name="TextBox 17"/>
          <p:cNvSpPr txBox="1"/>
          <p:nvPr/>
        </p:nvSpPr>
        <p:spPr>
          <a:xfrm>
            <a:off x="640080" y="4343400"/>
            <a:ext cx="5212080" cy="365760"/>
          </a:xfrm>
          <a:prstGeom prst="rect">
            <a:avLst/>
          </a:prstGeom>
          <a:noFill/>
        </p:spPr>
        <p:txBody>
          <a:bodyPr wrap="square">
            <a:spAutoFit/>
          </a:bodyPr>
          <a:lstStyle/>
          <a:p>
            <a:pPr algn="l">
              <a:defRPr sz="1100" b="0">
                <a:solidFill>
                  <a:srgbClr val="404040"/>
                </a:solidFill>
              </a:defRPr>
            </a:pPr>
            <a:r>
              <a:t>  Sistem informasi yang mendukung mutu</a:t>
            </a:r>
          </a:p>
        </p:txBody>
      </p:sp>
      <p:sp>
        <p:nvSpPr>
          <p:cNvPr id="19" name="TextBox 18"/>
          <p:cNvSpPr txBox="1"/>
          <p:nvPr/>
        </p:nvSpPr>
        <p:spPr>
          <a:xfrm>
            <a:off x="640080" y="4800600"/>
            <a:ext cx="5212080" cy="365760"/>
          </a:xfrm>
          <a:prstGeom prst="rect">
            <a:avLst/>
          </a:prstGeom>
          <a:noFill/>
        </p:spPr>
        <p:txBody>
          <a:bodyPr wrap="square">
            <a:spAutoFit/>
          </a:bodyPr>
          <a:lstStyle/>
          <a:p>
            <a:pPr algn="l">
              <a:defRPr sz="1100" b="0">
                <a:solidFill>
                  <a:srgbClr val="404040"/>
                </a:solidFill>
              </a:defRPr>
            </a:pPr>
            <a:r>
              <a:t>  Komunikasi internal yang efektif</a:t>
            </a:r>
          </a:p>
        </p:txBody>
      </p:sp>
      <p:sp>
        <p:nvSpPr>
          <p:cNvPr id="20" name="TextBox 19"/>
          <p:cNvSpPr txBox="1"/>
          <p:nvPr/>
        </p:nvSpPr>
        <p:spPr>
          <a:xfrm>
            <a:off x="640080" y="5257800"/>
            <a:ext cx="5212080" cy="365760"/>
          </a:xfrm>
          <a:prstGeom prst="rect">
            <a:avLst/>
          </a:prstGeom>
          <a:noFill/>
        </p:spPr>
        <p:txBody>
          <a:bodyPr wrap="square">
            <a:spAutoFit/>
          </a:bodyPr>
          <a:lstStyle/>
          <a:p>
            <a:pPr algn="l">
              <a:defRPr sz="1100" b="0">
                <a:solidFill>
                  <a:srgbClr val="404040"/>
                </a:solidFill>
              </a:defRPr>
            </a:pPr>
            <a:r>
              <a:t>  Komunikasi eksternal dengan pihak terkait</a:t>
            </a:r>
          </a:p>
        </p:txBody>
      </p:sp>
      <p:sp>
        <p:nvSpPr>
          <p:cNvPr id="21" name="TextBox 20"/>
          <p:cNvSpPr txBox="1"/>
          <p:nvPr/>
        </p:nvSpPr>
        <p:spPr>
          <a:xfrm>
            <a:off x="640080" y="5715000"/>
            <a:ext cx="5212080" cy="365760"/>
          </a:xfrm>
          <a:prstGeom prst="rect">
            <a:avLst/>
          </a:prstGeom>
          <a:noFill/>
        </p:spPr>
        <p:txBody>
          <a:bodyPr wrap="square">
            <a:spAutoFit/>
          </a:bodyPr>
          <a:lstStyle/>
          <a:p>
            <a:pPr algn="l">
              <a:defRPr sz="1100" b="0">
                <a:solidFill>
                  <a:srgbClr val="404040"/>
                </a:solidFill>
              </a:defRPr>
            </a:pPr>
            <a:r>
              <a:t>  Pelaporan sistem manajemen mutu</a:t>
            </a:r>
          </a:p>
        </p:txBody>
      </p:sp>
      <p:sp>
        <p:nvSpPr>
          <p:cNvPr id="22" name="Rounded Rectangle 21"/>
          <p:cNvSpPr/>
          <p:nvPr/>
        </p:nvSpPr>
        <p:spPr>
          <a:xfrm>
            <a:off x="6323990" y="3840480"/>
            <a:ext cx="5577840" cy="2468880"/>
          </a:xfrm>
          <a:prstGeom prst="roundRect">
            <a:avLst/>
          </a:prstGeom>
          <a:solidFill>
            <a:srgbClr val="FFFFFF"/>
          </a:solidFill>
          <a:ln w="25400">
            <a:solidFill>
              <a:srgbClr val="0066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6870" y="3931920"/>
            <a:ext cx="5212080" cy="365760"/>
          </a:xfrm>
          <a:prstGeom prst="rect">
            <a:avLst/>
          </a:prstGeom>
          <a:noFill/>
        </p:spPr>
        <p:txBody>
          <a:bodyPr wrap="square">
            <a:spAutoFit/>
          </a:bodyPr>
          <a:lstStyle/>
          <a:p>
            <a:pPr algn="l">
              <a:defRPr sz="1400" b="1">
                <a:solidFill>
                  <a:srgbClr val="006699"/>
                </a:solidFill>
              </a:defRPr>
            </a:pPr>
            <a:r>
              <a:t>8. Proses Pemantauan dan Remediasi</a:t>
            </a:r>
          </a:p>
        </p:txBody>
      </p:sp>
      <p:sp>
        <p:nvSpPr>
          <p:cNvPr id="24" name="TextBox 23"/>
          <p:cNvSpPr txBox="1"/>
          <p:nvPr/>
        </p:nvSpPr>
        <p:spPr>
          <a:xfrm>
            <a:off x="6506870" y="4343400"/>
            <a:ext cx="5212080" cy="365760"/>
          </a:xfrm>
          <a:prstGeom prst="rect">
            <a:avLst/>
          </a:prstGeom>
          <a:noFill/>
        </p:spPr>
        <p:txBody>
          <a:bodyPr wrap="square">
            <a:spAutoFit/>
          </a:bodyPr>
          <a:lstStyle/>
          <a:p>
            <a:pPr algn="l">
              <a:defRPr sz="1100" b="0">
                <a:solidFill>
                  <a:srgbClr val="404040"/>
                </a:solidFill>
              </a:defRPr>
            </a:pPr>
            <a:r>
              <a:t>  Pemantauan dan evaluasi sistem secara berkala</a:t>
            </a:r>
          </a:p>
        </p:txBody>
      </p:sp>
      <p:sp>
        <p:nvSpPr>
          <p:cNvPr id="25" name="TextBox 24"/>
          <p:cNvSpPr txBox="1"/>
          <p:nvPr/>
        </p:nvSpPr>
        <p:spPr>
          <a:xfrm>
            <a:off x="6506870" y="4800600"/>
            <a:ext cx="5212080" cy="365760"/>
          </a:xfrm>
          <a:prstGeom prst="rect">
            <a:avLst/>
          </a:prstGeom>
          <a:noFill/>
        </p:spPr>
        <p:txBody>
          <a:bodyPr wrap="square">
            <a:spAutoFit/>
          </a:bodyPr>
          <a:lstStyle/>
          <a:p>
            <a:pPr algn="l">
              <a:defRPr sz="1100" b="0">
                <a:solidFill>
                  <a:srgbClr val="404040"/>
                </a:solidFill>
              </a:defRPr>
            </a:pPr>
            <a:r>
              <a:t>  Inspeksi perikatan yang telah selesai</a:t>
            </a:r>
          </a:p>
        </p:txBody>
      </p:sp>
      <p:sp>
        <p:nvSpPr>
          <p:cNvPr id="26" name="TextBox 25"/>
          <p:cNvSpPr txBox="1"/>
          <p:nvPr/>
        </p:nvSpPr>
        <p:spPr>
          <a:xfrm>
            <a:off x="6506870" y="5257800"/>
            <a:ext cx="5212080" cy="365760"/>
          </a:xfrm>
          <a:prstGeom prst="rect">
            <a:avLst/>
          </a:prstGeom>
          <a:noFill/>
        </p:spPr>
        <p:txBody>
          <a:bodyPr wrap="square">
            <a:spAutoFit/>
          </a:bodyPr>
          <a:lstStyle/>
          <a:p>
            <a:pPr algn="l">
              <a:defRPr sz="1100" b="0">
                <a:solidFill>
                  <a:srgbClr val="404040"/>
                </a:solidFill>
              </a:defRPr>
            </a:pPr>
            <a:r>
              <a:t>  Analisis akar masalah (root cause analysis)</a:t>
            </a:r>
          </a:p>
        </p:txBody>
      </p:sp>
      <p:sp>
        <p:nvSpPr>
          <p:cNvPr id="27" name="TextBox 26"/>
          <p:cNvSpPr txBox="1"/>
          <p:nvPr/>
        </p:nvSpPr>
        <p:spPr>
          <a:xfrm>
            <a:off x="6506870" y="5715000"/>
            <a:ext cx="5212080" cy="365760"/>
          </a:xfrm>
          <a:prstGeom prst="rect">
            <a:avLst/>
          </a:prstGeom>
          <a:noFill/>
        </p:spPr>
        <p:txBody>
          <a:bodyPr wrap="square">
            <a:spAutoFit/>
          </a:bodyPr>
          <a:lstStyle/>
          <a:p>
            <a:pPr algn="l">
              <a:defRPr sz="1100" b="0">
                <a:solidFill>
                  <a:srgbClr val="404040"/>
                </a:solidFill>
              </a:defRPr>
            </a:pPr>
            <a:r>
              <a:t>  Tindakan remediasi dan perbaikan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05  INTEGRASI STANDAR DALAM PERIKATAN</a:t>
            </a:r>
          </a:p>
        </p:txBody>
      </p:sp>
      <p:sp>
        <p:nvSpPr>
          <p:cNvPr id="4" name="TextBox 3"/>
          <p:cNvSpPr txBox="1"/>
          <p:nvPr/>
        </p:nvSpPr>
        <p:spPr>
          <a:xfrm>
            <a:off x="457200" y="1234440"/>
            <a:ext cx="10972800" cy="365760"/>
          </a:xfrm>
          <a:prstGeom prst="rect">
            <a:avLst/>
          </a:prstGeom>
          <a:noFill/>
        </p:spPr>
        <p:txBody>
          <a:bodyPr wrap="square">
            <a:spAutoFit/>
          </a:bodyPr>
          <a:lstStyle/>
          <a:p>
            <a:pPr algn="l">
              <a:defRPr sz="1800" b="1">
                <a:solidFill>
                  <a:srgbClr val="003366"/>
                </a:solidFill>
              </a:defRPr>
            </a:pPr>
            <a:r>
              <a:t>Bagaimana Ketiga Standar Saling Terkait?</a:t>
            </a:r>
          </a:p>
        </p:txBody>
      </p:sp>
      <p:sp>
        <p:nvSpPr>
          <p:cNvPr id="5" name="Rounded Rectangle 4"/>
          <p:cNvSpPr/>
          <p:nvPr/>
        </p:nvSpPr>
        <p:spPr>
          <a:xfrm>
            <a:off x="457200" y="1737360"/>
            <a:ext cx="3566160" cy="2286000"/>
          </a:xfrm>
          <a:prstGeom prst="roundRect">
            <a:avLst/>
          </a:prstGeom>
          <a:solidFill>
            <a:srgbClr val="FFFFFF"/>
          </a:solidFill>
          <a:ln w="381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3200400" cy="365760"/>
          </a:xfrm>
          <a:prstGeom prst="rect">
            <a:avLst/>
          </a:prstGeom>
          <a:noFill/>
        </p:spPr>
        <p:txBody>
          <a:bodyPr wrap="square">
            <a:spAutoFit/>
          </a:bodyPr>
          <a:lstStyle/>
          <a:p>
            <a:pPr algn="ctr">
              <a:defRPr sz="1600" b="1">
                <a:solidFill>
                  <a:srgbClr val="003366"/>
                </a:solidFill>
              </a:defRPr>
            </a:pPr>
            <a:r>
              <a:t>KODE ETIK</a:t>
            </a:r>
          </a:p>
        </p:txBody>
      </p:sp>
      <p:sp>
        <p:nvSpPr>
          <p:cNvPr id="7" name="TextBox 6"/>
          <p:cNvSpPr txBox="1"/>
          <p:nvPr/>
        </p:nvSpPr>
        <p:spPr>
          <a:xfrm>
            <a:off x="640080" y="2286000"/>
            <a:ext cx="3200400" cy="1371600"/>
          </a:xfrm>
          <a:prstGeom prst="rect">
            <a:avLst/>
          </a:prstGeom>
          <a:noFill/>
        </p:spPr>
        <p:txBody>
          <a:bodyPr wrap="square">
            <a:spAutoFit/>
          </a:bodyPr>
          <a:lstStyle/>
          <a:p>
            <a:pPr algn="ctr">
              <a:defRPr sz="1200" b="0">
                <a:solidFill>
                  <a:srgbClr val="404040"/>
                </a:solidFill>
              </a:defRPr>
            </a:pPr>
            <a:r>
              <a:t>Menetapkan PRINSIP dan NILAI yang harus dipegang oleh praktisi dalam setiap perikatan</a:t>
            </a:r>
          </a:p>
        </p:txBody>
      </p:sp>
      <p:sp>
        <p:nvSpPr>
          <p:cNvPr id="8" name="Right Arrow 7"/>
          <p:cNvSpPr/>
          <p:nvPr/>
        </p:nvSpPr>
        <p:spPr>
          <a:xfrm>
            <a:off x="4114800" y="2651760"/>
            <a:ext cx="548640" cy="365760"/>
          </a:xfrm>
          <a:prstGeom prst="right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0" y="1737360"/>
            <a:ext cx="3566160" cy="2286000"/>
          </a:xfrm>
          <a:prstGeom prst="roundRect">
            <a:avLst/>
          </a:prstGeom>
          <a:solidFill>
            <a:srgbClr val="FFFFFF"/>
          </a:solidFill>
          <a:ln w="381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1828800"/>
            <a:ext cx="3200400" cy="365760"/>
          </a:xfrm>
          <a:prstGeom prst="rect">
            <a:avLst/>
          </a:prstGeom>
          <a:noFill/>
        </p:spPr>
        <p:txBody>
          <a:bodyPr wrap="square">
            <a:spAutoFit/>
          </a:bodyPr>
          <a:lstStyle/>
          <a:p>
            <a:pPr algn="ctr">
              <a:defRPr sz="1600" b="1">
                <a:solidFill>
                  <a:srgbClr val="27AE60"/>
                </a:solidFill>
              </a:defRPr>
            </a:pPr>
            <a:r>
              <a:t>KERANGKA ASURANS</a:t>
            </a:r>
          </a:p>
        </p:txBody>
      </p:sp>
      <p:sp>
        <p:nvSpPr>
          <p:cNvPr id="11" name="TextBox 10"/>
          <p:cNvSpPr txBox="1"/>
          <p:nvPr/>
        </p:nvSpPr>
        <p:spPr>
          <a:xfrm>
            <a:off x="4937760" y="2286000"/>
            <a:ext cx="3200400" cy="1371600"/>
          </a:xfrm>
          <a:prstGeom prst="rect">
            <a:avLst/>
          </a:prstGeom>
          <a:noFill/>
        </p:spPr>
        <p:txBody>
          <a:bodyPr wrap="square">
            <a:spAutoFit/>
          </a:bodyPr>
          <a:lstStyle/>
          <a:p>
            <a:pPr algn="ctr">
              <a:defRPr sz="1200" b="0">
                <a:solidFill>
                  <a:srgbClr val="404040"/>
                </a:solidFill>
              </a:defRPr>
            </a:pPr>
            <a:r>
              <a:t>Mengatur ELEMEN dan PROSES pelaksanaan perikatan asurans</a:t>
            </a:r>
          </a:p>
        </p:txBody>
      </p:sp>
      <p:sp>
        <p:nvSpPr>
          <p:cNvPr id="12" name="Right Arrow 11"/>
          <p:cNvSpPr/>
          <p:nvPr/>
        </p:nvSpPr>
        <p:spPr>
          <a:xfrm>
            <a:off x="8412480" y="2651760"/>
            <a:ext cx="548640" cy="365760"/>
          </a:xfrm>
          <a:prstGeom prst="rightArrow">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52560" y="1737360"/>
            <a:ext cx="2651760" cy="2286000"/>
          </a:xfrm>
          <a:prstGeom prst="roundRect">
            <a:avLst/>
          </a:prstGeom>
          <a:solidFill>
            <a:srgbClr val="FFFFFF"/>
          </a:solidFill>
          <a:ln w="381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1828800"/>
            <a:ext cx="2286000" cy="365760"/>
          </a:xfrm>
          <a:prstGeom prst="rect">
            <a:avLst/>
          </a:prstGeom>
          <a:noFill/>
        </p:spPr>
        <p:txBody>
          <a:bodyPr wrap="square">
            <a:spAutoFit/>
          </a:bodyPr>
          <a:lstStyle/>
          <a:p>
            <a:pPr algn="ctr">
              <a:defRPr sz="1600" b="1">
                <a:solidFill>
                  <a:srgbClr val="E67E22"/>
                </a:solidFill>
              </a:defRPr>
            </a:pPr>
            <a:r>
              <a:t>SMM 1</a:t>
            </a:r>
          </a:p>
        </p:txBody>
      </p:sp>
      <p:sp>
        <p:nvSpPr>
          <p:cNvPr id="15" name="TextBox 14"/>
          <p:cNvSpPr txBox="1"/>
          <p:nvPr/>
        </p:nvSpPr>
        <p:spPr>
          <a:xfrm>
            <a:off x="9235440" y="2286000"/>
            <a:ext cx="2286000" cy="1371600"/>
          </a:xfrm>
          <a:prstGeom prst="rect">
            <a:avLst/>
          </a:prstGeom>
          <a:noFill/>
        </p:spPr>
        <p:txBody>
          <a:bodyPr wrap="square">
            <a:spAutoFit/>
          </a:bodyPr>
          <a:lstStyle/>
          <a:p>
            <a:pPr algn="ctr">
              <a:defRPr sz="1200" b="0">
                <a:solidFill>
                  <a:srgbClr val="404040"/>
                </a:solidFill>
              </a:defRPr>
            </a:pPr>
            <a:r>
              <a:t>Memastikan MUTU setiap perikatan yang dilakukan KAP</a:t>
            </a:r>
          </a:p>
        </p:txBody>
      </p:sp>
      <p:sp>
        <p:nvSpPr>
          <p:cNvPr id="16" name="TextBox 15"/>
          <p:cNvSpPr txBox="1"/>
          <p:nvPr/>
        </p:nvSpPr>
        <p:spPr>
          <a:xfrm>
            <a:off x="457200" y="4206240"/>
            <a:ext cx="10972800" cy="365760"/>
          </a:xfrm>
          <a:prstGeom prst="rect">
            <a:avLst/>
          </a:prstGeom>
          <a:noFill/>
        </p:spPr>
        <p:txBody>
          <a:bodyPr wrap="square">
            <a:spAutoFit/>
          </a:bodyPr>
          <a:lstStyle/>
          <a:p>
            <a:pPr algn="l">
              <a:defRPr sz="1600" b="1">
                <a:solidFill>
                  <a:srgbClr val="003366"/>
                </a:solidFill>
              </a:defRPr>
            </a:pPr>
            <a:r>
              <a:t>Alur Integrasi dalam Praktik:</a:t>
            </a:r>
          </a:p>
        </p:txBody>
      </p:sp>
      <p:sp>
        <p:nvSpPr>
          <p:cNvPr id="17" name="Oval 16"/>
          <p:cNvSpPr/>
          <p:nvPr/>
        </p:nvSpPr>
        <p:spPr>
          <a:xfrm>
            <a:off x="457200" y="466344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754880"/>
            <a:ext cx="457200" cy="274320"/>
          </a:xfrm>
          <a:prstGeom prst="rect">
            <a:avLst/>
          </a:prstGeom>
          <a:noFill/>
        </p:spPr>
        <p:txBody>
          <a:bodyPr wrap="square">
            <a:spAutoFit/>
          </a:bodyPr>
          <a:lstStyle/>
          <a:p>
            <a:pPr algn="ctr">
              <a:defRPr sz="1600" b="1">
                <a:solidFill>
                  <a:srgbClr val="FFFFFF"/>
                </a:solidFill>
              </a:defRPr>
            </a:pPr>
            <a:r>
              <a:t>1</a:t>
            </a:r>
          </a:p>
        </p:txBody>
      </p:sp>
      <p:sp>
        <p:nvSpPr>
          <p:cNvPr id="19" name="TextBox 18"/>
          <p:cNvSpPr txBox="1"/>
          <p:nvPr/>
        </p:nvSpPr>
        <p:spPr>
          <a:xfrm>
            <a:off x="1005840" y="4663440"/>
            <a:ext cx="3108960" cy="320040"/>
          </a:xfrm>
          <a:prstGeom prst="rect">
            <a:avLst/>
          </a:prstGeom>
          <a:noFill/>
        </p:spPr>
        <p:txBody>
          <a:bodyPr wrap="square">
            <a:spAutoFit/>
          </a:bodyPr>
          <a:lstStyle/>
          <a:p>
            <a:pPr algn="l">
              <a:defRPr sz="1300" b="1">
                <a:solidFill>
                  <a:srgbClr val="003366"/>
                </a:solidFill>
              </a:defRPr>
            </a:pPr>
            <a:r>
              <a:t>Sebelum Perikatan</a:t>
            </a:r>
          </a:p>
        </p:txBody>
      </p:sp>
      <p:sp>
        <p:nvSpPr>
          <p:cNvPr id="20" name="TextBox 19"/>
          <p:cNvSpPr txBox="1"/>
          <p:nvPr/>
        </p:nvSpPr>
        <p:spPr>
          <a:xfrm>
            <a:off x="1005840" y="4983480"/>
            <a:ext cx="3108960" cy="1005840"/>
          </a:xfrm>
          <a:prstGeom prst="rect">
            <a:avLst/>
          </a:prstGeom>
          <a:noFill/>
        </p:spPr>
        <p:txBody>
          <a:bodyPr wrap="square">
            <a:spAutoFit/>
          </a:bodyPr>
          <a:lstStyle/>
          <a:p>
            <a:pPr algn="l">
              <a:defRPr sz="1000" b="0">
                <a:solidFill>
                  <a:srgbClr val="404040"/>
                </a:solidFill>
              </a:defRPr>
            </a:pPr>
            <a:r>
              <a:t>Terapkan Kode Etik untuk menilai independensi dan ancaman. SMM: Evaluasi penerimaan klien.</a:t>
            </a:r>
          </a:p>
        </p:txBody>
      </p:sp>
      <p:sp>
        <p:nvSpPr>
          <p:cNvPr id="21" name="Oval 20"/>
          <p:cNvSpPr/>
          <p:nvPr/>
        </p:nvSpPr>
        <p:spPr>
          <a:xfrm>
            <a:off x="4297680" y="4663440"/>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4754880"/>
            <a:ext cx="457200" cy="274320"/>
          </a:xfrm>
          <a:prstGeom prst="rect">
            <a:avLst/>
          </a:prstGeom>
          <a:noFill/>
        </p:spPr>
        <p:txBody>
          <a:bodyPr wrap="square">
            <a:spAutoFit/>
          </a:bodyPr>
          <a:lstStyle/>
          <a:p>
            <a:pPr algn="ctr">
              <a:defRPr sz="1600" b="1">
                <a:solidFill>
                  <a:srgbClr val="FFFFFF"/>
                </a:solidFill>
              </a:defRPr>
            </a:pPr>
            <a:r>
              <a:t>2</a:t>
            </a:r>
          </a:p>
        </p:txBody>
      </p:sp>
      <p:sp>
        <p:nvSpPr>
          <p:cNvPr id="23" name="TextBox 22"/>
          <p:cNvSpPr txBox="1"/>
          <p:nvPr/>
        </p:nvSpPr>
        <p:spPr>
          <a:xfrm>
            <a:off x="4846320" y="4663440"/>
            <a:ext cx="3108960" cy="320040"/>
          </a:xfrm>
          <a:prstGeom prst="rect">
            <a:avLst/>
          </a:prstGeom>
          <a:noFill/>
        </p:spPr>
        <p:txBody>
          <a:bodyPr wrap="square">
            <a:spAutoFit/>
          </a:bodyPr>
          <a:lstStyle/>
          <a:p>
            <a:pPr algn="l">
              <a:defRPr sz="1300" b="1">
                <a:solidFill>
                  <a:srgbClr val="27AE60"/>
                </a:solidFill>
              </a:defRPr>
            </a:pPr>
            <a:r>
              <a:t>Selama Perikatan</a:t>
            </a:r>
          </a:p>
        </p:txBody>
      </p:sp>
      <p:sp>
        <p:nvSpPr>
          <p:cNvPr id="24" name="TextBox 23"/>
          <p:cNvSpPr txBox="1"/>
          <p:nvPr/>
        </p:nvSpPr>
        <p:spPr>
          <a:xfrm>
            <a:off x="4846320" y="4983480"/>
            <a:ext cx="3108960" cy="1005840"/>
          </a:xfrm>
          <a:prstGeom prst="rect">
            <a:avLst/>
          </a:prstGeom>
          <a:noFill/>
        </p:spPr>
        <p:txBody>
          <a:bodyPr wrap="square">
            <a:spAutoFit/>
          </a:bodyPr>
          <a:lstStyle/>
          <a:p>
            <a:pPr algn="l">
              <a:defRPr sz="1000" b="0">
                <a:solidFill>
                  <a:srgbClr val="404040"/>
                </a:solidFill>
              </a:defRPr>
            </a:pPr>
            <a:r>
              <a:t>Laksanakan 5 elemen asurans dengan mematuhi Kode Etik. SMM: Supervisi dan kontrol mutu.</a:t>
            </a:r>
          </a:p>
        </p:txBody>
      </p:sp>
      <p:sp>
        <p:nvSpPr>
          <p:cNvPr id="25" name="Oval 24"/>
          <p:cNvSpPr/>
          <p:nvPr/>
        </p:nvSpPr>
        <p:spPr>
          <a:xfrm>
            <a:off x="8138160" y="4663440"/>
            <a:ext cx="457200" cy="4572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0" y="4754880"/>
            <a:ext cx="457200" cy="274320"/>
          </a:xfrm>
          <a:prstGeom prst="rect">
            <a:avLst/>
          </a:prstGeom>
          <a:noFill/>
        </p:spPr>
        <p:txBody>
          <a:bodyPr wrap="square">
            <a:spAutoFit/>
          </a:bodyPr>
          <a:lstStyle/>
          <a:p>
            <a:pPr algn="ctr">
              <a:defRPr sz="1600" b="1">
                <a:solidFill>
                  <a:srgbClr val="FFFFFF"/>
                </a:solidFill>
              </a:defRPr>
            </a:pPr>
            <a:r>
              <a:t>3</a:t>
            </a:r>
          </a:p>
        </p:txBody>
      </p:sp>
      <p:sp>
        <p:nvSpPr>
          <p:cNvPr id="27" name="TextBox 26"/>
          <p:cNvSpPr txBox="1"/>
          <p:nvPr/>
        </p:nvSpPr>
        <p:spPr>
          <a:xfrm>
            <a:off x="8686800" y="4663440"/>
            <a:ext cx="3108960" cy="320040"/>
          </a:xfrm>
          <a:prstGeom prst="rect">
            <a:avLst/>
          </a:prstGeom>
          <a:noFill/>
        </p:spPr>
        <p:txBody>
          <a:bodyPr wrap="square">
            <a:spAutoFit/>
          </a:bodyPr>
          <a:lstStyle/>
          <a:p>
            <a:pPr algn="l">
              <a:defRPr sz="1300" b="1">
                <a:solidFill>
                  <a:srgbClr val="E67E22"/>
                </a:solidFill>
              </a:defRPr>
            </a:pPr>
            <a:r>
              <a:t>Setelah Perikatan</a:t>
            </a:r>
          </a:p>
        </p:txBody>
      </p:sp>
      <p:sp>
        <p:nvSpPr>
          <p:cNvPr id="28" name="TextBox 27"/>
          <p:cNvSpPr txBox="1"/>
          <p:nvPr/>
        </p:nvSpPr>
        <p:spPr>
          <a:xfrm>
            <a:off x="8686800" y="4983480"/>
            <a:ext cx="3108960" cy="1005840"/>
          </a:xfrm>
          <a:prstGeom prst="rect">
            <a:avLst/>
          </a:prstGeom>
          <a:noFill/>
        </p:spPr>
        <p:txBody>
          <a:bodyPr wrap="square">
            <a:spAutoFit/>
          </a:bodyPr>
          <a:lstStyle/>
          <a:p>
            <a:pPr algn="l">
              <a:defRPr sz="1000" b="0">
                <a:solidFill>
                  <a:srgbClr val="404040"/>
                </a:solidFill>
              </a:defRPr>
            </a:pPr>
            <a:r>
              <a:t>Terbitkan laporan sesuai kerangka asurans. SMM: Review dan dokumentasi untuk perbaikan.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06  STUDI KASUS</a:t>
            </a:r>
          </a:p>
        </p:txBody>
      </p:sp>
      <p:sp>
        <p:nvSpPr>
          <p:cNvPr id="4" name="TextBox 3"/>
          <p:cNvSpPr txBox="1"/>
          <p:nvPr/>
        </p:nvSpPr>
        <p:spPr>
          <a:xfrm>
            <a:off x="457200" y="1234440"/>
            <a:ext cx="10972800" cy="365760"/>
          </a:xfrm>
          <a:prstGeom prst="rect">
            <a:avLst/>
          </a:prstGeom>
          <a:noFill/>
        </p:spPr>
        <p:txBody>
          <a:bodyPr wrap="square">
            <a:spAutoFit/>
          </a:bodyPr>
          <a:lstStyle/>
          <a:p>
            <a:pPr algn="l">
              <a:defRPr sz="1800" b="1">
                <a:solidFill>
                  <a:srgbClr val="003366"/>
                </a:solidFill>
              </a:defRPr>
            </a:pPr>
            <a:r>
              <a:t>Kasus: Audit Laporan Keuangan PT Maju Bersama</a:t>
            </a:r>
          </a:p>
        </p:txBody>
      </p:sp>
      <p:sp>
        <p:nvSpPr>
          <p:cNvPr id="5" name="Rounded Rectangle 4"/>
          <p:cNvSpPr/>
          <p:nvPr/>
        </p:nvSpPr>
        <p:spPr>
          <a:xfrm>
            <a:off x="457200" y="1691640"/>
            <a:ext cx="11277295" cy="1188720"/>
          </a:xfrm>
          <a:prstGeom prst="roundRect">
            <a:avLst/>
          </a:prstGeom>
          <a:solidFill>
            <a:srgbClr val="FFFAF0"/>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828800" cy="274320"/>
          </a:xfrm>
          <a:prstGeom prst="rect">
            <a:avLst/>
          </a:prstGeom>
          <a:noFill/>
        </p:spPr>
        <p:txBody>
          <a:bodyPr wrap="square">
            <a:spAutoFit/>
          </a:bodyPr>
          <a:lstStyle/>
          <a:p>
            <a:pPr algn="l">
              <a:defRPr sz="1200" b="1">
                <a:solidFill>
                  <a:srgbClr val="E67E22"/>
                </a:solidFill>
              </a:defRPr>
            </a:pPr>
            <a:r>
              <a:t>Latar Belakang:</a:t>
            </a:r>
          </a:p>
        </p:txBody>
      </p:sp>
      <p:sp>
        <p:nvSpPr>
          <p:cNvPr id="7" name="TextBox 6"/>
          <p:cNvSpPr txBox="1"/>
          <p:nvPr/>
        </p:nvSpPr>
        <p:spPr>
          <a:xfrm>
            <a:off x="640080" y="2103120"/>
            <a:ext cx="10881360" cy="640080"/>
          </a:xfrm>
          <a:prstGeom prst="rect">
            <a:avLst/>
          </a:prstGeom>
          <a:noFill/>
        </p:spPr>
        <p:txBody>
          <a:bodyPr wrap="square">
            <a:spAutoFit/>
          </a:bodyPr>
          <a:lstStyle/>
          <a:p>
            <a:pPr algn="l">
              <a:defRPr sz="1100" b="0">
                <a:solidFill>
                  <a:srgbClr val="404040"/>
                </a:solidFill>
              </a:defRPr>
            </a:pPr>
            <a:r>
              <a:t>KAP ABC menerima tawaran untuk mengaudit laporan keuangan PT Maju Bersama untuk tahun buku 2024. Direktur Keuangan PT Maju Bersama adalah kakak ipar dari Partner Audit KAP ABC. PT Maju Bersama juga meminta KAP ABC untuk menyiapkan laporan keuangannya.</a:t>
            </a:r>
          </a:p>
        </p:txBody>
      </p:sp>
      <p:sp>
        <p:nvSpPr>
          <p:cNvPr id="8" name="TextBox 7"/>
          <p:cNvSpPr txBox="1"/>
          <p:nvPr/>
        </p:nvSpPr>
        <p:spPr>
          <a:xfrm>
            <a:off x="457200" y="3017520"/>
            <a:ext cx="10972800" cy="365760"/>
          </a:xfrm>
          <a:prstGeom prst="rect">
            <a:avLst/>
          </a:prstGeom>
          <a:noFill/>
        </p:spPr>
        <p:txBody>
          <a:bodyPr wrap="square">
            <a:spAutoFit/>
          </a:bodyPr>
          <a:lstStyle/>
          <a:p>
            <a:pPr algn="l">
              <a:defRPr sz="1600" b="1">
                <a:solidFill>
                  <a:srgbClr val="003366"/>
                </a:solidFill>
              </a:defRPr>
            </a:pPr>
            <a:r>
              <a:t>Analisis Berdasarkan Ketiga Standar:</a:t>
            </a:r>
          </a:p>
        </p:txBody>
      </p:sp>
      <p:sp>
        <p:nvSpPr>
          <p:cNvPr id="9" name="Rounded Rectangle 8"/>
          <p:cNvSpPr/>
          <p:nvPr/>
        </p:nvSpPr>
        <p:spPr>
          <a:xfrm>
            <a:off x="457200" y="3429000"/>
            <a:ext cx="3566160" cy="219456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520440"/>
            <a:ext cx="3291840" cy="320040"/>
          </a:xfrm>
          <a:prstGeom prst="rect">
            <a:avLst/>
          </a:prstGeom>
          <a:noFill/>
        </p:spPr>
        <p:txBody>
          <a:bodyPr wrap="square">
            <a:spAutoFit/>
          </a:bodyPr>
          <a:lstStyle/>
          <a:p>
            <a:pPr algn="ctr">
              <a:defRPr sz="1300" b="1">
                <a:solidFill>
                  <a:srgbClr val="003366"/>
                </a:solidFill>
              </a:defRPr>
            </a:pPr>
            <a:r>
              <a:t>Kode Etik</a:t>
            </a:r>
          </a:p>
        </p:txBody>
      </p:sp>
      <p:sp>
        <p:nvSpPr>
          <p:cNvPr id="11" name="TextBox 10"/>
          <p:cNvSpPr txBox="1"/>
          <p:nvPr/>
        </p:nvSpPr>
        <p:spPr>
          <a:xfrm>
            <a:off x="594360" y="3886200"/>
            <a:ext cx="3291840" cy="502920"/>
          </a:xfrm>
          <a:prstGeom prst="rect">
            <a:avLst/>
          </a:prstGeom>
          <a:noFill/>
        </p:spPr>
        <p:txBody>
          <a:bodyPr wrap="square">
            <a:spAutoFit/>
          </a:bodyPr>
          <a:lstStyle/>
          <a:p>
            <a:pPr algn="l">
              <a:defRPr sz="1000" b="0">
                <a:solidFill>
                  <a:srgbClr val="404040"/>
                </a:solidFill>
              </a:defRPr>
            </a:pPr>
            <a:r>
              <a:t>  Ancaman Kedekatan: Hubungan keluarga dengan klien</a:t>
            </a:r>
          </a:p>
        </p:txBody>
      </p:sp>
      <p:sp>
        <p:nvSpPr>
          <p:cNvPr id="12" name="TextBox 11"/>
          <p:cNvSpPr txBox="1"/>
          <p:nvPr/>
        </p:nvSpPr>
        <p:spPr>
          <a:xfrm>
            <a:off x="594360" y="4434840"/>
            <a:ext cx="3291840" cy="502920"/>
          </a:xfrm>
          <a:prstGeom prst="rect">
            <a:avLst/>
          </a:prstGeom>
          <a:noFill/>
        </p:spPr>
        <p:txBody>
          <a:bodyPr wrap="square">
            <a:spAutoFit/>
          </a:bodyPr>
          <a:lstStyle/>
          <a:p>
            <a:pPr algn="l">
              <a:defRPr sz="1000" b="0">
                <a:solidFill>
                  <a:srgbClr val="404040"/>
                </a:solidFill>
              </a:defRPr>
            </a:pPr>
            <a:r>
              <a:t>  Ancaman Telaah Pribadi: Menyiapkan sekaligus mengaudit LK</a:t>
            </a:r>
          </a:p>
        </p:txBody>
      </p:sp>
      <p:sp>
        <p:nvSpPr>
          <p:cNvPr id="13" name="TextBox 12"/>
          <p:cNvSpPr txBox="1"/>
          <p:nvPr/>
        </p:nvSpPr>
        <p:spPr>
          <a:xfrm>
            <a:off x="594360" y="4983480"/>
            <a:ext cx="3291840" cy="502920"/>
          </a:xfrm>
          <a:prstGeom prst="rect">
            <a:avLst/>
          </a:prstGeom>
          <a:noFill/>
        </p:spPr>
        <p:txBody>
          <a:bodyPr wrap="square">
            <a:spAutoFit/>
          </a:bodyPr>
          <a:lstStyle/>
          <a:p>
            <a:pPr algn="l">
              <a:defRPr sz="1000" b="0">
                <a:solidFill>
                  <a:srgbClr val="404040"/>
                </a:solidFill>
              </a:defRPr>
            </a:pPr>
            <a:r>
              <a:t>  Pengamanan: Menugaskan partner lain atau menolak penyusunan LK</a:t>
            </a:r>
          </a:p>
        </p:txBody>
      </p:sp>
      <p:sp>
        <p:nvSpPr>
          <p:cNvPr id="14" name="Rounded Rectangle 13"/>
          <p:cNvSpPr/>
          <p:nvPr/>
        </p:nvSpPr>
        <p:spPr>
          <a:xfrm>
            <a:off x="4297680" y="3429000"/>
            <a:ext cx="3566160" cy="219456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520440"/>
            <a:ext cx="3291840" cy="320040"/>
          </a:xfrm>
          <a:prstGeom prst="rect">
            <a:avLst/>
          </a:prstGeom>
          <a:noFill/>
        </p:spPr>
        <p:txBody>
          <a:bodyPr wrap="square">
            <a:spAutoFit/>
          </a:bodyPr>
          <a:lstStyle/>
          <a:p>
            <a:pPr algn="ctr">
              <a:defRPr sz="1300" b="1">
                <a:solidFill>
                  <a:srgbClr val="27AE60"/>
                </a:solidFill>
              </a:defRPr>
            </a:pPr>
            <a:r>
              <a:t>Kerangka Asurans</a:t>
            </a:r>
          </a:p>
        </p:txBody>
      </p:sp>
      <p:sp>
        <p:nvSpPr>
          <p:cNvPr id="16" name="TextBox 15"/>
          <p:cNvSpPr txBox="1"/>
          <p:nvPr/>
        </p:nvSpPr>
        <p:spPr>
          <a:xfrm>
            <a:off x="4434840" y="3886200"/>
            <a:ext cx="3291840" cy="502920"/>
          </a:xfrm>
          <a:prstGeom prst="rect">
            <a:avLst/>
          </a:prstGeom>
          <a:noFill/>
        </p:spPr>
        <p:txBody>
          <a:bodyPr wrap="square">
            <a:spAutoFit/>
          </a:bodyPr>
          <a:lstStyle/>
          <a:p>
            <a:pPr algn="l">
              <a:defRPr sz="1000" b="0">
                <a:solidFill>
                  <a:srgbClr val="404040"/>
                </a:solidFill>
              </a:defRPr>
            </a:pPr>
            <a:r>
              <a:t>  Tiga Pihak: Praktisi harus independen dari klien</a:t>
            </a:r>
          </a:p>
        </p:txBody>
      </p:sp>
      <p:sp>
        <p:nvSpPr>
          <p:cNvPr id="17" name="TextBox 16"/>
          <p:cNvSpPr txBox="1"/>
          <p:nvPr/>
        </p:nvSpPr>
        <p:spPr>
          <a:xfrm>
            <a:off x="4434840" y="4434840"/>
            <a:ext cx="3291840" cy="502920"/>
          </a:xfrm>
          <a:prstGeom prst="rect">
            <a:avLst/>
          </a:prstGeom>
          <a:noFill/>
        </p:spPr>
        <p:txBody>
          <a:bodyPr wrap="square">
            <a:spAutoFit/>
          </a:bodyPr>
          <a:lstStyle/>
          <a:p>
            <a:pPr algn="l">
              <a:defRPr sz="1000" b="0">
                <a:solidFill>
                  <a:srgbClr val="404040"/>
                </a:solidFill>
              </a:defRPr>
            </a:pPr>
            <a:r>
              <a:t>  Kriteria: Gunakan SAK yang berlaku</a:t>
            </a:r>
          </a:p>
        </p:txBody>
      </p:sp>
      <p:sp>
        <p:nvSpPr>
          <p:cNvPr id="18" name="TextBox 17"/>
          <p:cNvSpPr txBox="1"/>
          <p:nvPr/>
        </p:nvSpPr>
        <p:spPr>
          <a:xfrm>
            <a:off x="4434840" y="4983480"/>
            <a:ext cx="3291840" cy="502920"/>
          </a:xfrm>
          <a:prstGeom prst="rect">
            <a:avLst/>
          </a:prstGeom>
          <a:noFill/>
        </p:spPr>
        <p:txBody>
          <a:bodyPr wrap="square">
            <a:spAutoFit/>
          </a:bodyPr>
          <a:lstStyle/>
          <a:p>
            <a:pPr algn="l">
              <a:defRPr sz="1000" b="0">
                <a:solidFill>
                  <a:srgbClr val="404040"/>
                </a:solidFill>
              </a:defRPr>
            </a:pPr>
            <a:r>
              <a:t>  Bukti: Pastikan dapat dikumpulkan secara objektif</a:t>
            </a:r>
          </a:p>
        </p:txBody>
      </p:sp>
      <p:sp>
        <p:nvSpPr>
          <p:cNvPr id="19" name="Rounded Rectangle 18"/>
          <p:cNvSpPr/>
          <p:nvPr/>
        </p:nvSpPr>
        <p:spPr>
          <a:xfrm>
            <a:off x="8138160" y="3429000"/>
            <a:ext cx="3566160" cy="219456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3520440"/>
            <a:ext cx="3291840" cy="320040"/>
          </a:xfrm>
          <a:prstGeom prst="rect">
            <a:avLst/>
          </a:prstGeom>
          <a:noFill/>
        </p:spPr>
        <p:txBody>
          <a:bodyPr wrap="square">
            <a:spAutoFit/>
          </a:bodyPr>
          <a:lstStyle/>
          <a:p>
            <a:pPr algn="ctr">
              <a:defRPr sz="1300" b="1">
                <a:solidFill>
                  <a:srgbClr val="E67E22"/>
                </a:solidFill>
              </a:defRPr>
            </a:pPr>
            <a:r>
              <a:t>SMM 1</a:t>
            </a:r>
          </a:p>
        </p:txBody>
      </p:sp>
      <p:sp>
        <p:nvSpPr>
          <p:cNvPr id="21" name="TextBox 20"/>
          <p:cNvSpPr txBox="1"/>
          <p:nvPr/>
        </p:nvSpPr>
        <p:spPr>
          <a:xfrm>
            <a:off x="8275320" y="3886200"/>
            <a:ext cx="3291840" cy="502920"/>
          </a:xfrm>
          <a:prstGeom prst="rect">
            <a:avLst/>
          </a:prstGeom>
          <a:noFill/>
        </p:spPr>
        <p:txBody>
          <a:bodyPr wrap="square">
            <a:spAutoFit/>
          </a:bodyPr>
          <a:lstStyle/>
          <a:p>
            <a:pPr algn="l">
              <a:defRPr sz="1000" b="0">
                <a:solidFill>
                  <a:srgbClr val="404040"/>
                </a:solidFill>
              </a:defRPr>
            </a:pPr>
            <a:r>
              <a:t>  Penerimaan Klien: Evaluasi risiko dan kemampuan KAP</a:t>
            </a:r>
          </a:p>
        </p:txBody>
      </p:sp>
      <p:sp>
        <p:nvSpPr>
          <p:cNvPr id="22" name="TextBox 21"/>
          <p:cNvSpPr txBox="1"/>
          <p:nvPr/>
        </p:nvSpPr>
        <p:spPr>
          <a:xfrm>
            <a:off x="8275320" y="4434840"/>
            <a:ext cx="3291840" cy="502920"/>
          </a:xfrm>
          <a:prstGeom prst="rect">
            <a:avLst/>
          </a:prstGeom>
          <a:noFill/>
        </p:spPr>
        <p:txBody>
          <a:bodyPr wrap="square">
            <a:spAutoFit/>
          </a:bodyPr>
          <a:lstStyle/>
          <a:p>
            <a:pPr algn="l">
              <a:defRPr sz="1000" b="0">
                <a:solidFill>
                  <a:srgbClr val="404040"/>
                </a:solidFill>
              </a:defRPr>
            </a:pPr>
            <a:r>
              <a:t>  Sumber Daya: Pastikan tim audit kompeten dan independen</a:t>
            </a:r>
          </a:p>
        </p:txBody>
      </p:sp>
      <p:sp>
        <p:nvSpPr>
          <p:cNvPr id="23" name="TextBox 22"/>
          <p:cNvSpPr txBox="1"/>
          <p:nvPr/>
        </p:nvSpPr>
        <p:spPr>
          <a:xfrm>
            <a:off x="8275320" y="4983480"/>
            <a:ext cx="3291840" cy="502920"/>
          </a:xfrm>
          <a:prstGeom prst="rect">
            <a:avLst/>
          </a:prstGeom>
          <a:noFill/>
        </p:spPr>
        <p:txBody>
          <a:bodyPr wrap="square">
            <a:spAutoFit/>
          </a:bodyPr>
          <a:lstStyle/>
          <a:p>
            <a:pPr algn="l">
              <a:defRPr sz="1000" b="0">
                <a:solidFill>
                  <a:srgbClr val="404040"/>
                </a:solidFill>
              </a:defRPr>
            </a:pPr>
            <a:r>
              <a:t>  Etika: Dokumentasikan pertimbangan independensi</a:t>
            </a:r>
          </a:p>
        </p:txBody>
      </p:sp>
      <p:sp>
        <p:nvSpPr>
          <p:cNvPr id="24" name="Rounded Rectangle 23"/>
          <p:cNvSpPr/>
          <p:nvPr/>
        </p:nvSpPr>
        <p:spPr>
          <a:xfrm>
            <a:off x="457200" y="5760720"/>
            <a:ext cx="11277295" cy="822960"/>
          </a:xfrm>
          <a:prstGeom prst="roundRect">
            <a:avLst/>
          </a:prstGeom>
          <a:solidFill>
            <a:srgbClr val="E8FFE8"/>
          </a:solidFill>
          <a:ln>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897880"/>
            <a:ext cx="10881360" cy="548640"/>
          </a:xfrm>
          <a:prstGeom prst="rect">
            <a:avLst/>
          </a:prstGeom>
          <a:noFill/>
        </p:spPr>
        <p:txBody>
          <a:bodyPr wrap="square">
            <a:spAutoFit/>
          </a:bodyPr>
          <a:lstStyle/>
          <a:p>
            <a:pPr algn="l">
              <a:defRPr sz="1100" b="0">
                <a:solidFill>
                  <a:srgbClr val="404040"/>
                </a:solidFill>
              </a:defRPr>
            </a:pPr>
            <a:r>
              <a:t>Kesimpulan: KAP ABC dapat menerima perikatan audit dengan syarat: (1) Menugaskan partner berbeda, (2) Menolak jasa penyusunan LK atau menugaskan tim terpisah, (3) Mendokumentasikan seluruh pertimbangan sesuai SMM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07  RINGKASAN</a:t>
            </a:r>
          </a:p>
        </p:txBody>
      </p:sp>
      <p:sp>
        <p:nvSpPr>
          <p:cNvPr id="4" name="TextBox 3"/>
          <p:cNvSpPr txBox="1"/>
          <p:nvPr/>
        </p:nvSpPr>
        <p:spPr>
          <a:xfrm>
            <a:off x="457200" y="1234440"/>
            <a:ext cx="10972800" cy="365760"/>
          </a:xfrm>
          <a:prstGeom prst="rect">
            <a:avLst/>
          </a:prstGeom>
          <a:noFill/>
        </p:spPr>
        <p:txBody>
          <a:bodyPr wrap="square">
            <a:spAutoFit/>
          </a:bodyPr>
          <a:lstStyle/>
          <a:p>
            <a:pPr algn="l">
              <a:defRPr sz="1800" b="1">
                <a:solidFill>
                  <a:srgbClr val="003366"/>
                </a:solidFill>
              </a:defRPr>
            </a:pPr>
            <a:r>
              <a:t>Poin-Poin Kunci yang Perlu Diingat:</a:t>
            </a:r>
          </a:p>
        </p:txBody>
      </p:sp>
      <p:sp>
        <p:nvSpPr>
          <p:cNvPr id="5" name="Rounded Rectangle 4"/>
          <p:cNvSpPr/>
          <p:nvPr/>
        </p:nvSpPr>
        <p:spPr>
          <a:xfrm>
            <a:off x="457200" y="1737360"/>
            <a:ext cx="11277295" cy="10972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2011679"/>
            <a:ext cx="548640" cy="54864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30552"/>
            <a:ext cx="548640" cy="320040"/>
          </a:xfrm>
          <a:prstGeom prst="rect">
            <a:avLst/>
          </a:prstGeom>
          <a:noFill/>
        </p:spPr>
        <p:txBody>
          <a:bodyPr wrap="square">
            <a:spAutoFit/>
          </a:bodyPr>
          <a:lstStyle/>
          <a:p>
            <a:pPr algn="ctr">
              <a:defRPr sz="1800" b="1">
                <a:solidFill>
                  <a:srgbClr val="FFFFFF"/>
                </a:solidFill>
              </a:defRPr>
            </a:pPr>
            <a:r>
              <a:t>1</a:t>
            </a:r>
          </a:p>
        </p:txBody>
      </p:sp>
      <p:sp>
        <p:nvSpPr>
          <p:cNvPr id="8" name="TextBox 7"/>
          <p:cNvSpPr txBox="1"/>
          <p:nvPr/>
        </p:nvSpPr>
        <p:spPr>
          <a:xfrm>
            <a:off x="1371600" y="1874519"/>
            <a:ext cx="9601200" cy="320040"/>
          </a:xfrm>
          <a:prstGeom prst="rect">
            <a:avLst/>
          </a:prstGeom>
          <a:noFill/>
        </p:spPr>
        <p:txBody>
          <a:bodyPr wrap="square">
            <a:spAutoFit/>
          </a:bodyPr>
          <a:lstStyle/>
          <a:p>
            <a:pPr algn="l">
              <a:defRPr sz="1400" b="1">
                <a:solidFill>
                  <a:srgbClr val="003366"/>
                </a:solidFill>
              </a:defRPr>
            </a:pPr>
            <a:r>
              <a:t>Kode Etik</a:t>
            </a:r>
          </a:p>
        </p:txBody>
      </p:sp>
      <p:sp>
        <p:nvSpPr>
          <p:cNvPr id="9" name="TextBox 8"/>
          <p:cNvSpPr txBox="1"/>
          <p:nvPr/>
        </p:nvSpPr>
        <p:spPr>
          <a:xfrm>
            <a:off x="1371600" y="2240280"/>
            <a:ext cx="9601200" cy="502920"/>
          </a:xfrm>
          <a:prstGeom prst="rect">
            <a:avLst/>
          </a:prstGeom>
          <a:noFill/>
        </p:spPr>
        <p:txBody>
          <a:bodyPr wrap="square">
            <a:spAutoFit/>
          </a:bodyPr>
          <a:lstStyle/>
          <a:p>
            <a:pPr algn="l">
              <a:defRPr sz="1100" b="0">
                <a:solidFill>
                  <a:srgbClr val="404040"/>
                </a:solidFill>
              </a:defRPr>
            </a:pPr>
            <a:r>
              <a:t>5 Prinsip Dasar: Integritas, Objektivitas, Kompetensi, Kerahasiaan, Perilaku Profesional. Kerangka konseptual untuk mengidentifikasi dan merespons ancaman.</a:t>
            </a:r>
          </a:p>
        </p:txBody>
      </p:sp>
      <p:sp>
        <p:nvSpPr>
          <p:cNvPr id="10" name="Rounded Rectangle 9"/>
          <p:cNvSpPr/>
          <p:nvPr/>
        </p:nvSpPr>
        <p:spPr>
          <a:xfrm>
            <a:off x="457200" y="2971800"/>
            <a:ext cx="11277295" cy="1097280"/>
          </a:xfrm>
          <a:prstGeom prst="round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3246120"/>
            <a:ext cx="548640" cy="54864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64992"/>
            <a:ext cx="548640" cy="320040"/>
          </a:xfrm>
          <a:prstGeom prst="rect">
            <a:avLst/>
          </a:prstGeom>
          <a:noFill/>
        </p:spPr>
        <p:txBody>
          <a:bodyPr wrap="square">
            <a:spAutoFit/>
          </a:bodyPr>
          <a:lstStyle/>
          <a:p>
            <a:pPr algn="ctr">
              <a:defRPr sz="1800" b="1">
                <a:solidFill>
                  <a:srgbClr val="FFFFFF"/>
                </a:solidFill>
              </a:defRPr>
            </a:pPr>
            <a:r>
              <a:t>2</a:t>
            </a:r>
          </a:p>
        </p:txBody>
      </p:sp>
      <p:sp>
        <p:nvSpPr>
          <p:cNvPr id="13" name="TextBox 12"/>
          <p:cNvSpPr txBox="1"/>
          <p:nvPr/>
        </p:nvSpPr>
        <p:spPr>
          <a:xfrm>
            <a:off x="1371600" y="3108960"/>
            <a:ext cx="9601200" cy="320040"/>
          </a:xfrm>
          <a:prstGeom prst="rect">
            <a:avLst/>
          </a:prstGeom>
          <a:noFill/>
        </p:spPr>
        <p:txBody>
          <a:bodyPr wrap="square">
            <a:spAutoFit/>
          </a:bodyPr>
          <a:lstStyle/>
          <a:p>
            <a:pPr algn="l">
              <a:defRPr sz="1400" b="1">
                <a:solidFill>
                  <a:srgbClr val="27AE60"/>
                </a:solidFill>
              </a:defRPr>
            </a:pPr>
            <a:r>
              <a:t>Kerangka Asurans</a:t>
            </a:r>
          </a:p>
        </p:txBody>
      </p:sp>
      <p:sp>
        <p:nvSpPr>
          <p:cNvPr id="14" name="TextBox 13"/>
          <p:cNvSpPr txBox="1"/>
          <p:nvPr/>
        </p:nvSpPr>
        <p:spPr>
          <a:xfrm>
            <a:off x="1371600" y="3474720"/>
            <a:ext cx="9601200" cy="502920"/>
          </a:xfrm>
          <a:prstGeom prst="rect">
            <a:avLst/>
          </a:prstGeom>
          <a:noFill/>
        </p:spPr>
        <p:txBody>
          <a:bodyPr wrap="square">
            <a:spAutoFit/>
          </a:bodyPr>
          <a:lstStyle/>
          <a:p>
            <a:pPr algn="l">
              <a:defRPr sz="1100" b="0">
                <a:solidFill>
                  <a:srgbClr val="404040"/>
                </a:solidFill>
              </a:defRPr>
            </a:pPr>
            <a:r>
              <a:t>5 Elemen Kunci: Tiga Pihak, Hal Pokok, Kriteria, Bukti, dan Laporan. Dua jenis: Keyakinan Memadai (positif) dan Keyakinan Terbatas (negatif).</a:t>
            </a:r>
          </a:p>
        </p:txBody>
      </p:sp>
      <p:sp>
        <p:nvSpPr>
          <p:cNvPr id="15" name="Rounded Rectangle 14"/>
          <p:cNvSpPr/>
          <p:nvPr/>
        </p:nvSpPr>
        <p:spPr>
          <a:xfrm>
            <a:off x="457200" y="4206240"/>
            <a:ext cx="11277295" cy="1097280"/>
          </a:xfrm>
          <a:prstGeom prst="round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4480559"/>
            <a:ext cx="548640" cy="54864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599431"/>
            <a:ext cx="548640" cy="320040"/>
          </a:xfrm>
          <a:prstGeom prst="rect">
            <a:avLst/>
          </a:prstGeom>
          <a:noFill/>
        </p:spPr>
        <p:txBody>
          <a:bodyPr wrap="square">
            <a:spAutoFit/>
          </a:bodyPr>
          <a:lstStyle/>
          <a:p>
            <a:pPr algn="ctr">
              <a:defRPr sz="1800" b="1">
                <a:solidFill>
                  <a:srgbClr val="FFFFFF"/>
                </a:solidFill>
              </a:defRPr>
            </a:pPr>
            <a:r>
              <a:t>3</a:t>
            </a:r>
          </a:p>
        </p:txBody>
      </p:sp>
      <p:sp>
        <p:nvSpPr>
          <p:cNvPr id="18" name="TextBox 17"/>
          <p:cNvSpPr txBox="1"/>
          <p:nvPr/>
        </p:nvSpPr>
        <p:spPr>
          <a:xfrm>
            <a:off x="1371600" y="4343400"/>
            <a:ext cx="9601200" cy="320040"/>
          </a:xfrm>
          <a:prstGeom prst="rect">
            <a:avLst/>
          </a:prstGeom>
          <a:noFill/>
        </p:spPr>
        <p:txBody>
          <a:bodyPr wrap="square">
            <a:spAutoFit/>
          </a:bodyPr>
          <a:lstStyle/>
          <a:p>
            <a:pPr algn="l">
              <a:defRPr sz="1400" b="1">
                <a:solidFill>
                  <a:srgbClr val="E67E22"/>
                </a:solidFill>
              </a:defRPr>
            </a:pPr>
            <a:r>
              <a:t>SMM 1</a:t>
            </a:r>
          </a:p>
        </p:txBody>
      </p:sp>
      <p:sp>
        <p:nvSpPr>
          <p:cNvPr id="19" name="TextBox 18"/>
          <p:cNvSpPr txBox="1"/>
          <p:nvPr/>
        </p:nvSpPr>
        <p:spPr>
          <a:xfrm>
            <a:off x="1371600" y="4709159"/>
            <a:ext cx="9601200" cy="502920"/>
          </a:xfrm>
          <a:prstGeom prst="rect">
            <a:avLst/>
          </a:prstGeom>
          <a:noFill/>
        </p:spPr>
        <p:txBody>
          <a:bodyPr wrap="square">
            <a:spAutoFit/>
          </a:bodyPr>
          <a:lstStyle/>
          <a:p>
            <a:pPr algn="l">
              <a:defRPr sz="1100" b="0">
                <a:solidFill>
                  <a:srgbClr val="404040"/>
                </a:solidFill>
              </a:defRPr>
            </a:pPr>
            <a:r>
              <a:t>8 Komponen: Penilaian Risiko, Tata Kelola, Etika, Penerimaan Klien, Pelaksanaan, Sumber Daya, Informasi, dan Pemantauan. Pendekatan berbasis risiko.</a:t>
            </a:r>
          </a:p>
        </p:txBody>
      </p:sp>
      <p:sp>
        <p:nvSpPr>
          <p:cNvPr id="20" name="Rounded Rectangle 19"/>
          <p:cNvSpPr/>
          <p:nvPr/>
        </p:nvSpPr>
        <p:spPr>
          <a:xfrm>
            <a:off x="457200" y="5440680"/>
            <a:ext cx="11277295" cy="109728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 y="5715000"/>
            <a:ext cx="548640" cy="54864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833872"/>
            <a:ext cx="548640" cy="320040"/>
          </a:xfrm>
          <a:prstGeom prst="rect">
            <a:avLst/>
          </a:prstGeom>
          <a:noFill/>
        </p:spPr>
        <p:txBody>
          <a:bodyPr wrap="square">
            <a:spAutoFit/>
          </a:bodyPr>
          <a:lstStyle/>
          <a:p>
            <a:pPr algn="ctr">
              <a:defRPr sz="1800" b="1">
                <a:solidFill>
                  <a:srgbClr val="FFFFFF"/>
                </a:solidFill>
              </a:defRPr>
            </a:pPr>
            <a:r>
              <a:t>4</a:t>
            </a:r>
          </a:p>
        </p:txBody>
      </p:sp>
      <p:sp>
        <p:nvSpPr>
          <p:cNvPr id="23" name="TextBox 22"/>
          <p:cNvSpPr txBox="1"/>
          <p:nvPr/>
        </p:nvSpPr>
        <p:spPr>
          <a:xfrm>
            <a:off x="1371600" y="5577840"/>
            <a:ext cx="9601200" cy="320040"/>
          </a:xfrm>
          <a:prstGeom prst="rect">
            <a:avLst/>
          </a:prstGeom>
          <a:noFill/>
        </p:spPr>
        <p:txBody>
          <a:bodyPr wrap="square">
            <a:spAutoFit/>
          </a:bodyPr>
          <a:lstStyle/>
          <a:p>
            <a:pPr algn="l">
              <a:defRPr sz="1400" b="1">
                <a:solidFill>
                  <a:srgbClr val="8E44AD"/>
                </a:solidFill>
              </a:defRPr>
            </a:pPr>
            <a:r>
              <a:t>Integrasi</a:t>
            </a:r>
          </a:p>
        </p:txBody>
      </p:sp>
      <p:sp>
        <p:nvSpPr>
          <p:cNvPr id="24" name="TextBox 23"/>
          <p:cNvSpPr txBox="1"/>
          <p:nvPr/>
        </p:nvSpPr>
        <p:spPr>
          <a:xfrm>
            <a:off x="1371600" y="5943600"/>
            <a:ext cx="9601200" cy="502920"/>
          </a:xfrm>
          <a:prstGeom prst="rect">
            <a:avLst/>
          </a:prstGeom>
          <a:noFill/>
        </p:spPr>
        <p:txBody>
          <a:bodyPr wrap="square">
            <a:spAutoFit/>
          </a:bodyPr>
          <a:lstStyle/>
          <a:p>
            <a:pPr algn="l">
              <a:defRPr sz="1100" b="0">
                <a:solidFill>
                  <a:srgbClr val="404040"/>
                </a:solidFill>
              </a:defRPr>
            </a:pPr>
            <a:r>
              <a:t>Ketiga standar saling mendukung: Kode Etik sebagai fondasi nilai, Kerangka Asurans sebagai panduan proses, dan SMM 1 sebagai penjamin mutu.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548640"/>
          </a:xfrm>
          <a:prstGeom prst="rect">
            <a:avLst/>
          </a:prstGeom>
          <a:noFill/>
        </p:spPr>
        <p:txBody>
          <a:bodyPr wrap="none">
            <a:spAutoFit/>
          </a:bodyPr>
          <a:lstStyle/>
          <a:p>
            <a:pPr>
              <a:defRPr sz="3200" b="1">
                <a:solidFill>
                  <a:srgbClr val="FFFFFF"/>
                </a:solidFill>
              </a:defRPr>
            </a:pPr>
            <a:r>
              <a:t>REFERENSI</a:t>
            </a:r>
          </a:p>
        </p:txBody>
      </p:sp>
      <p:sp>
        <p:nvSpPr>
          <p:cNvPr id="4" name="TextBox 3"/>
          <p:cNvSpPr txBox="1"/>
          <p:nvPr/>
        </p:nvSpPr>
        <p:spPr>
          <a:xfrm>
            <a:off x="457200" y="1371600"/>
            <a:ext cx="11277295" cy="457200"/>
          </a:xfrm>
          <a:prstGeom prst="rect">
            <a:avLst/>
          </a:prstGeom>
          <a:noFill/>
        </p:spPr>
        <p:txBody>
          <a:bodyPr wrap="square">
            <a:spAutoFit/>
          </a:bodyPr>
          <a:lstStyle/>
          <a:p>
            <a:pPr algn="l">
              <a:defRPr sz="1200" b="0">
                <a:solidFill>
                  <a:srgbClr val="404040"/>
                </a:solidFill>
              </a:defRPr>
            </a:pPr>
            <a:r>
              <a:t>1. Institut Akuntan Publik Indonesia (IAPI). Kode Etik Profesi Akuntan Publik.</a:t>
            </a:r>
          </a:p>
        </p:txBody>
      </p:sp>
      <p:sp>
        <p:nvSpPr>
          <p:cNvPr id="5" name="TextBox 4"/>
          <p:cNvSpPr txBox="1"/>
          <p:nvPr/>
        </p:nvSpPr>
        <p:spPr>
          <a:xfrm>
            <a:off x="457200" y="1920240"/>
            <a:ext cx="11277295" cy="457200"/>
          </a:xfrm>
          <a:prstGeom prst="rect">
            <a:avLst/>
          </a:prstGeom>
          <a:noFill/>
        </p:spPr>
        <p:txBody>
          <a:bodyPr wrap="square">
            <a:spAutoFit/>
          </a:bodyPr>
          <a:lstStyle/>
          <a:p>
            <a:pPr algn="l">
              <a:defRPr sz="1200" b="0">
                <a:solidFill>
                  <a:srgbClr val="404040"/>
                </a:solidFill>
              </a:defRPr>
            </a:pPr>
            <a:r>
              <a:t>2. Institut Akuntan Publik Indonesia (IAPI). Standar Audit &amp; Kerangka Perikatan Asurans 2025.</a:t>
            </a:r>
          </a:p>
        </p:txBody>
      </p:sp>
      <p:sp>
        <p:nvSpPr>
          <p:cNvPr id="6" name="TextBox 5"/>
          <p:cNvSpPr txBox="1"/>
          <p:nvPr/>
        </p:nvSpPr>
        <p:spPr>
          <a:xfrm>
            <a:off x="457200" y="2468880"/>
            <a:ext cx="11277295" cy="457200"/>
          </a:xfrm>
          <a:prstGeom prst="rect">
            <a:avLst/>
          </a:prstGeom>
          <a:noFill/>
        </p:spPr>
        <p:txBody>
          <a:bodyPr wrap="square">
            <a:spAutoFit/>
          </a:bodyPr>
          <a:lstStyle/>
          <a:p>
            <a:pPr algn="l">
              <a:defRPr sz="1200" b="0">
                <a:solidFill>
                  <a:srgbClr val="404040"/>
                </a:solidFill>
              </a:defRPr>
            </a:pPr>
            <a:r>
              <a:t>3. Institut Akuntan Publik Indonesia (IAPI). SMM 1: Sistem Manajemen Mutu bagi KAP.</a:t>
            </a:r>
          </a:p>
        </p:txBody>
      </p:sp>
      <p:sp>
        <p:nvSpPr>
          <p:cNvPr id="7" name="TextBox 6"/>
          <p:cNvSpPr txBox="1"/>
          <p:nvPr/>
        </p:nvSpPr>
        <p:spPr>
          <a:xfrm>
            <a:off x="457200" y="3017520"/>
            <a:ext cx="11277295" cy="457200"/>
          </a:xfrm>
          <a:prstGeom prst="rect">
            <a:avLst/>
          </a:prstGeom>
          <a:noFill/>
        </p:spPr>
        <p:txBody>
          <a:bodyPr wrap="square">
            <a:spAutoFit/>
          </a:bodyPr>
          <a:lstStyle/>
          <a:p>
            <a:pPr algn="l">
              <a:defRPr sz="1200" b="0">
                <a:solidFill>
                  <a:srgbClr val="404040"/>
                </a:solidFill>
              </a:defRPr>
            </a:pPr>
            <a:r>
              <a:t>4. International Auditing and Assurance Standards Board (IAASB). ISQM 1 - Quality Management for Firms.</a:t>
            </a:r>
          </a:p>
        </p:txBody>
      </p:sp>
      <p:sp>
        <p:nvSpPr>
          <p:cNvPr id="8" name="TextBox 7"/>
          <p:cNvSpPr txBox="1"/>
          <p:nvPr/>
        </p:nvSpPr>
        <p:spPr>
          <a:xfrm>
            <a:off x="457200" y="3566160"/>
            <a:ext cx="11277295" cy="457200"/>
          </a:xfrm>
          <a:prstGeom prst="rect">
            <a:avLst/>
          </a:prstGeom>
          <a:noFill/>
        </p:spPr>
        <p:txBody>
          <a:bodyPr wrap="square">
            <a:spAutoFit/>
          </a:bodyPr>
          <a:lstStyle/>
          <a:p>
            <a:pPr algn="l">
              <a:defRPr sz="1200" b="0">
                <a:solidFill>
                  <a:srgbClr val="404040"/>
                </a:solidFill>
              </a:defRPr>
            </a:pPr>
            <a:r>
              <a:t>5. International Auditing and Assurance Standards Board (IAASB). International Framework for Assurance Engagements.</a:t>
            </a:r>
          </a:p>
        </p:txBody>
      </p:sp>
      <p:sp>
        <p:nvSpPr>
          <p:cNvPr id="9" name="TextBox 8"/>
          <p:cNvSpPr txBox="1"/>
          <p:nvPr/>
        </p:nvSpPr>
        <p:spPr>
          <a:xfrm>
            <a:off x="457200" y="4114800"/>
            <a:ext cx="11277295" cy="457200"/>
          </a:xfrm>
          <a:prstGeom prst="rect">
            <a:avLst/>
          </a:prstGeom>
          <a:noFill/>
        </p:spPr>
        <p:txBody>
          <a:bodyPr wrap="square">
            <a:spAutoFit/>
          </a:bodyPr>
          <a:lstStyle/>
          <a:p>
            <a:pPr algn="l">
              <a:defRPr sz="1200" b="0">
                <a:solidFill>
                  <a:srgbClr val="404040"/>
                </a:solidFill>
              </a:defRPr>
            </a:pPr>
            <a:r>
              <a:t>6. International Ethics Standards Board for Accountants (IESBA). International Code of Ethics for Professional Accountants.</a:t>
            </a:r>
          </a:p>
        </p:txBody>
      </p:sp>
      <p:sp>
        <p:nvSpPr>
          <p:cNvPr id="10" name="TextBox 9"/>
          <p:cNvSpPr txBox="1"/>
          <p:nvPr/>
        </p:nvSpPr>
        <p:spPr>
          <a:xfrm>
            <a:off x="457200" y="4663440"/>
            <a:ext cx="11277295" cy="457200"/>
          </a:xfrm>
          <a:prstGeom prst="rect">
            <a:avLst/>
          </a:prstGeom>
          <a:noFill/>
        </p:spPr>
        <p:txBody>
          <a:bodyPr wrap="square">
            <a:spAutoFit/>
          </a:bodyPr>
          <a:lstStyle/>
          <a:p>
            <a:pPr algn="l">
              <a:defRPr sz="1200" b="0">
                <a:solidFill>
                  <a:srgbClr val="404040"/>
                </a:solidFill>
              </a:defRPr>
            </a:pPr>
            <a:r>
              <a:t>7. IAASB. ISAE 3000 (Revised) - Assurance Engagements Other Than Audits or Reviews of Historical Financial Information.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731520"/>
          </a:xfrm>
          <a:prstGeom prst="rect">
            <a:avLst/>
          </a:prstGeom>
          <a:noFill/>
        </p:spPr>
        <p:txBody>
          <a:bodyPr wrap="square">
            <a:spAutoFit/>
          </a:bodyPr>
          <a:lstStyle/>
          <a:p>
            <a:pPr algn="ctr">
              <a:defRPr sz="4800" b="1">
                <a:solidFill>
                  <a:srgbClr val="FFFFFF"/>
                </a:solidFill>
              </a:defRPr>
            </a:pPr>
            <a:r>
              <a:t>TERIMA KASIH</a:t>
            </a:r>
          </a:p>
        </p:txBody>
      </p:sp>
      <p:sp>
        <p:nvSpPr>
          <p:cNvPr id="3" name="Rectangle 2"/>
          <p:cNvSpPr/>
          <p:nvPr/>
        </p:nvSpPr>
        <p:spPr>
          <a:xfrm>
            <a:off x="4114800" y="3200400"/>
            <a:ext cx="3962095" cy="27432"/>
          </a:xfrm>
          <a:prstGeom prst="rect">
            <a:avLst/>
          </a:prstGeom>
          <a:solidFill>
            <a:srgbClr val="33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0"/>
            <a:ext cx="11277295" cy="457200"/>
          </a:xfrm>
          <a:prstGeom prst="rect">
            <a:avLst/>
          </a:prstGeom>
          <a:noFill/>
        </p:spPr>
        <p:txBody>
          <a:bodyPr wrap="square">
            <a:spAutoFit/>
          </a:bodyPr>
          <a:lstStyle/>
          <a:p>
            <a:pPr algn="ctr">
              <a:defRPr sz="2400" b="0">
                <a:solidFill>
                  <a:srgbClr val="FFFFFF"/>
                </a:solidFill>
              </a:defRPr>
            </a:pPr>
            <a:r>
              <a:t>Sesi Tanya Jawab</a:t>
            </a:r>
          </a:p>
        </p:txBody>
      </p:sp>
      <p:sp>
        <p:nvSpPr>
          <p:cNvPr id="5" name="TextBox 4"/>
          <p:cNvSpPr txBox="1"/>
          <p:nvPr/>
        </p:nvSpPr>
        <p:spPr>
          <a:xfrm>
            <a:off x="457200" y="4572000"/>
            <a:ext cx="11277295" cy="365760"/>
          </a:xfrm>
          <a:prstGeom prst="rect">
            <a:avLst/>
          </a:prstGeom>
          <a:noFill/>
        </p:spPr>
        <p:txBody>
          <a:bodyPr wrap="square">
            <a:spAutoFit/>
          </a:bodyPr>
          <a:lstStyle/>
          <a:p>
            <a:pPr algn="ctr">
              <a:defRPr sz="1800" b="0">
                <a:solidFill>
                  <a:srgbClr val="3399CC"/>
                </a:solidFill>
              </a:defRPr>
            </a:pPr>
            <a:r>
              <a:t>Kelompok 1</a:t>
            </a:r>
          </a:p>
        </p:txBody>
      </p:sp>
      <p:sp>
        <p:nvSpPr>
          <p:cNvPr id="6" name="TextBox 5"/>
          <p:cNvSpPr txBox="1"/>
          <p:nvPr/>
        </p:nvSpPr>
        <p:spPr>
          <a:xfrm>
            <a:off x="457200" y="5029200"/>
            <a:ext cx="11277295" cy="365760"/>
          </a:xfrm>
          <a:prstGeom prst="rect">
            <a:avLst/>
          </a:prstGeom>
          <a:noFill/>
        </p:spPr>
        <p:txBody>
          <a:bodyPr wrap="square">
            <a:spAutoFit/>
          </a:bodyPr>
          <a:lstStyle/>
          <a:p>
            <a:pPr algn="ctr">
              <a:defRPr sz="1400" b="0">
                <a:solidFill>
                  <a:srgbClr val="FFFFFF"/>
                </a:solidFill>
              </a:defRPr>
            </a:pPr>
            <a:r>
              <a:t>Ana Mayasari | Daud Broto Prihandoko | Ismi Roudotul Janah | Yudhistira Mahardika G.K.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